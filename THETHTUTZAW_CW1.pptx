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26C1360A-A0AB-D683-6BF1-5B2BBD24136F}">
          <p14:sldIdLst>
            <p14:sldId id="256"/>
            <p14:sldId id="257"/>
            <p14:sldId id="258"/>
          </p14:sldIdLst>
        </p14:section>
        <p14:section name="Data &amp; EDA" id="{4CE50EB3-949E-DA83-9D94-FA6FFDA2C58A}">
          <p14:sldIdLst>
            <p14:sldId id="259"/>
            <p14:sldId id="260"/>
            <p14:sldId id="261"/>
            <p14:sldId id="262"/>
          </p14:sldIdLst>
        </p14:section>
        <p14:section name="Modelling" id="{D71B0B49-5852-D61D-E24D-19641850C209}">
          <p14:sldIdLst>
            <p14:sldId id="263"/>
            <p14:sldId id="264"/>
            <p14:sldId id="265"/>
            <p14:sldId id="266"/>
          </p14:sldIdLst>
        </p14:section>
        <p14:section name="Explainability" id="{41088F7F-94A1-EC9A-488B-B1F0C4285976}">
          <p14:sldIdLst>
            <p14:sldId id="267"/>
            <p14:sldId id="268"/>
          </p14:sldIdLst>
        </p14:section>
        <p14:section name="Reflection" id="{7A0A9E74-F16C-4A41-28B3-66C0891008D0}">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4324A"/>
                </a:solidFill>
                <a:latin typeface="+mn-lt"/>
              </a:defRPr>
            </a:pPr>
            <a:r>
              <a:rPr lang="en-US" sz="1400" b="0" i="0" u="none" strike="noStrike">
                <a:solidFill>
                  <a:srgbClr val="14324A"/>
                </a:solidFill>
                <a:latin typeface="+mn-lt"/>
              </a:rPr>
              <a:t>Median resale price by flat type (S$ thousands)</a:t>
            </a:r>
          </a:p>
        </c:rich>
      </c:tx>
      <c:overlay val="0"/>
    </c:title>
    <c:autoTitleDeleted val="0"/>
    <c:plotArea>
      <c:layout/>
      <c:barChart>
        <c:barDir val="col"/>
        <c:grouping val="clustered"/>
        <c:varyColors val="0"/>
        <c:ser>
          <c:idx val="0"/>
          <c:order val="0"/>
          <c:tx>
            <c:strRef>
              <c:f>Sheet1!$B$1</c:f>
              <c:strCache>
                <c:ptCount val="1"/>
                <c:pt idx="0">
                  <c:v>Median price</c:v>
                </c:pt>
              </c:strCache>
            </c:strRef>
          </c:tx>
          <c:spPr>
            <a:solidFill>
              <a:srgbClr val="14324A"/>
            </a:solidFill>
            <a:effectLst/>
          </c:spPr>
          <c:invertIfNegative val="0"/>
          <c:dLbls>
            <c:numFmt formatCode="&quot;S$&quot;0&quot;k&quot;" sourceLinked="0"/>
            <c:spPr>
              <a:noFill/>
              <a:ln>
                <a:noFill/>
              </a:ln>
              <a:effectLst/>
            </c:spPr>
            <c:txPr>
              <a:bodyPr/>
              <a:lstStyle/>
              <a:p>
                <a:pPr>
                  <a:defRPr sz="1200" b="0" i="0" u="none" strike="noStrike">
                    <a:solidFill>
                      <a:srgbClr val="2225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2-room</c:v>
                </c:pt>
                <c:pt idx="1">
                  <c:v>3-room</c:v>
                </c:pt>
                <c:pt idx="2">
                  <c:v>4-room</c:v>
                </c:pt>
                <c:pt idx="3">
                  <c:v>5-room</c:v>
                </c:pt>
                <c:pt idx="4">
                  <c:v>Executive</c:v>
                </c:pt>
              </c:strCache>
            </c:strRef>
          </c:cat>
          <c:val>
            <c:numRef>
              <c:f>Sheet1!$B$2:$B$6</c:f>
              <c:numCache>
                <c:formatCode>General</c:formatCode>
                <c:ptCount val="5"/>
                <c:pt idx="0">
                  <c:v>370</c:v>
                </c:pt>
                <c:pt idx="1">
                  <c:v>444</c:v>
                </c:pt>
                <c:pt idx="2">
                  <c:v>630</c:v>
                </c:pt>
                <c:pt idx="3">
                  <c:v>740</c:v>
                </c:pt>
                <c:pt idx="4">
                  <c:v>908</c:v>
                </c:pt>
              </c:numCache>
            </c:numRef>
          </c:val>
          <c:extLst>
            <c:ext xmlns:c16="http://schemas.microsoft.com/office/drawing/2014/chart" uri="{C3380CC4-5D6E-409C-BE32-E72D297353CC}">
              <c16:uniqueId val="{00000000-7F7B-4742-A995-3E105858F73C}"/>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3"/>
                </a:solidFill>
                <a:latin typeface="+mn-lt"/>
              </a:defRPr>
            </a:pPr>
            <a:endParaRPr lang="en-US"/>
          </a:p>
        </c:txPr>
        <c:crossAx val="2094734552"/>
        <c:crosses val="autoZero"/>
        <c:auto val="1"/>
        <c:lblAlgn val="ctr"/>
        <c:lblOffset val="100"/>
        <c:noMultiLvlLbl val="1"/>
      </c:catAx>
      <c:valAx>
        <c:axId val="2094734552"/>
        <c:scaling>
          <c:orientation val="minMax"/>
          <c:max val="1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4324A"/>
                </a:solidFill>
                <a:latin typeface="+mn-lt"/>
              </a:defRPr>
            </a:pPr>
            <a:r>
              <a:rPr lang="en-US" sz="1400" b="0" i="0" u="none" strike="noStrike">
                <a:solidFill>
                  <a:srgbClr val="14324A"/>
                </a:solidFill>
                <a:latin typeface="+mn-lt"/>
              </a:rPr>
              <a:t>5-fold CV average error, MAE (S$ thousands; baseline = S$163k)</a:t>
            </a:r>
          </a:p>
        </c:rich>
      </c:tx>
      <c:overlay val="0"/>
    </c:title>
    <c:autoTitleDeleted val="0"/>
    <c:plotArea>
      <c:layout/>
      <c:barChart>
        <c:barDir val="bar"/>
        <c:grouping val="clustered"/>
        <c:varyColors val="0"/>
        <c:ser>
          <c:idx val="0"/>
          <c:order val="0"/>
          <c:tx>
            <c:strRef>
              <c:f>Sheet1!$B$1</c:f>
              <c:strCache>
                <c:ptCount val="1"/>
                <c:pt idx="0">
                  <c:v>CV MAE</c:v>
                </c:pt>
              </c:strCache>
            </c:strRef>
          </c:tx>
          <c:spPr>
            <a:solidFill>
              <a:srgbClr val="5F6673"/>
            </a:solidFill>
            <a:effectLst/>
          </c:spPr>
          <c:invertIfNegative val="0"/>
          <c:dPt>
            <c:idx val="0"/>
            <c:invertIfNegative val="0"/>
            <c:bubble3D val="0"/>
            <c:extLst>
              <c:ext xmlns:c16="http://schemas.microsoft.com/office/drawing/2014/chart" uri="{C3380CC4-5D6E-409C-BE32-E72D297353CC}">
                <c16:uniqueId val="{00000001-21F4-4AA9-90D4-BC340EE20026}"/>
              </c:ext>
            </c:extLst>
          </c:dPt>
          <c:dPt>
            <c:idx val="1"/>
            <c:invertIfNegative val="0"/>
            <c:bubble3D val="0"/>
            <c:extLst>
              <c:ext xmlns:c16="http://schemas.microsoft.com/office/drawing/2014/chart" uri="{C3380CC4-5D6E-409C-BE32-E72D297353CC}">
                <c16:uniqueId val="{00000003-21F4-4AA9-90D4-BC340EE20026}"/>
              </c:ext>
            </c:extLst>
          </c:dPt>
          <c:dPt>
            <c:idx val="2"/>
            <c:invertIfNegative val="0"/>
            <c:bubble3D val="0"/>
            <c:spPr>
              <a:solidFill>
                <a:srgbClr val="14324A"/>
              </a:solidFill>
              <a:effectLst/>
            </c:spPr>
            <c:extLst>
              <c:ext xmlns:c16="http://schemas.microsoft.com/office/drawing/2014/chart" uri="{C3380CC4-5D6E-409C-BE32-E72D297353CC}">
                <c16:uniqueId val="{00000005-21F4-4AA9-90D4-BC340EE20026}"/>
              </c:ext>
            </c:extLst>
          </c:dPt>
          <c:dPt>
            <c:idx val="3"/>
            <c:invertIfNegative val="0"/>
            <c:bubble3D val="0"/>
            <c:spPr>
              <a:solidFill>
                <a:srgbClr val="14324A"/>
              </a:solidFill>
              <a:effectLst/>
            </c:spPr>
            <c:extLst>
              <c:ext xmlns:c16="http://schemas.microsoft.com/office/drawing/2014/chart" uri="{C3380CC4-5D6E-409C-BE32-E72D297353CC}">
                <c16:uniqueId val="{00000007-21F4-4AA9-90D4-BC340EE20026}"/>
              </c:ext>
            </c:extLst>
          </c:dPt>
          <c:dLbls>
            <c:numFmt formatCode="&quot;S$&quot;0.0&quot;k&quot;" sourceLinked="0"/>
            <c:spPr>
              <a:noFill/>
              <a:ln>
                <a:noFill/>
              </a:ln>
              <a:effectLst/>
            </c:spPr>
            <c:txPr>
              <a:bodyPr/>
              <a:lstStyle/>
              <a:p>
                <a:pPr>
                  <a:defRPr sz="1200" b="0" i="0" u="none" strike="noStrike">
                    <a:solidFill>
                      <a:srgbClr val="2225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Linear regression</c:v>
                </c:pt>
                <c:pt idx="1">
                  <c:v>PCA → Linear</c:v>
                </c:pt>
                <c:pt idx="2">
                  <c:v>Random Forest</c:v>
                </c:pt>
                <c:pt idx="3">
                  <c:v>LightGBM (default)</c:v>
                </c:pt>
              </c:strCache>
            </c:strRef>
          </c:cat>
          <c:val>
            <c:numRef>
              <c:f>Sheet1!$B$2:$B$5</c:f>
              <c:numCache>
                <c:formatCode>General</c:formatCode>
                <c:ptCount val="4"/>
                <c:pt idx="0">
                  <c:v>48.2</c:v>
                </c:pt>
                <c:pt idx="1">
                  <c:v>58.3</c:v>
                </c:pt>
                <c:pt idx="2">
                  <c:v>30</c:v>
                </c:pt>
                <c:pt idx="3">
                  <c:v>33.700000000000003</c:v>
                </c:pt>
              </c:numCache>
            </c:numRef>
          </c:val>
          <c:extLst>
            <c:ext xmlns:c16="http://schemas.microsoft.com/office/drawing/2014/chart" uri="{C3380CC4-5D6E-409C-BE32-E72D297353CC}">
              <c16:uniqueId val="{00000008-21F4-4AA9-90D4-BC340EE20026}"/>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673"/>
                </a:solidFill>
                <a:latin typeface="+mn-lt"/>
              </a:defRPr>
            </a:pPr>
            <a:endParaRPr lang="en-US"/>
          </a:p>
        </c:txPr>
        <c:crossAx val="2094734552"/>
        <c:crosses val="autoZero"/>
        <c:auto val="1"/>
        <c:lblAlgn val="ctr"/>
        <c:lblOffset val="100"/>
        <c:noMultiLvlLbl val="1"/>
      </c:catAx>
      <c:valAx>
        <c:axId val="2094734552"/>
        <c:scaling>
          <c:orientation val="minMax"/>
          <c:max val="7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8978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Hello, </a:t>
            </a:r>
            <a:r>
              <a:rPr lang="en-US"/>
              <a:t>I'm THET HTUT ZAW. </a:t>
            </a:r>
            <a:r>
              <a:rPr lang="en-US" dirty="0"/>
              <a:t>My project asks a question many Singaporeans care about: what is an HDB flat really worth?
I used HDB's official resale data — about 46,000 sales from January 2025 to October 2026 — and built a full machine-learning workflow: data cleaning, EDA, PCA, a pipeline, three types of model, AutoML, tuning, and explainable 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[0:25–1:10]
Housing is a core smart-city topic. Buyers and sellers want a fair price, and planners want to know what drives housing costs.
This is a regression problem: I predict the resale price in dollars from the flat's town, type, size, floor, model and remaining lease.
My main metric is MAE — the average error in dollars — because it's easy to explain. I also report MAPE, the error as a percentage, which is fairer across cheap and expensive flats, plus RMSE and R².
Before modelling I set success criteria: R-squared of at least 0.9, an average error under 8%, and no overfitting.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[1:10–1:35]
Here's the workflow. The key step is number 3: I set aside 20% of sales as a test set before fitting anything. Everything that learns from data — scaling, PCA, AutoML and tuning — only sees the training set, using 5-fold cross-validation. The test set is used once, at the end, so the final score is honest.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[1:35–2:20]
The data has no blank values, but useful numbers were hidden in text. For example "07 TO 09" becomes floor 8, and "61 years 04 months" becomes 61.33 years. This only reshapes each row, so it's safe before the split.
On the right are my other decisions: I kept the 22 duplicates because they're likely different flats; I kept the 1,086 price outliers because they're real million-dollar flats; I grouped very rare flat models; and I model the log of price, which removes the skew and lets the model learn percentage effects.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[2:20–3:00]
The first EDA finding: size matters most. The median price climbs from about 444 thousand for a 3-room flat to over 900 thousand for an Executive flat.
I tested this with ANOVA on log price: flat type alone explains 53% of the variation. Floor area has a Spearman correlation of 0.69 with price.
And prices were stable over these 22 months — only minus 1 to plus 5 percent — so the month of sale should matter little.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[3:00–3:40]
Location matters too: Bukit Timah's median is almost twice Ang Mo Kio's. But careful — Ang Mo Kio is a mature estate with many old 3-room flats, so a town median mixes size and age together. That's why we need a model that looks at everything at once.
Higher floors cost more, and remaining lease is not a straight line: flats with 85 or more years left carry a clear premium. Curves like this are hard for linear regression, which is a hint that tree models will do better.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[3:40–4:30]
Before modelling I ran PCA on the seven numeric columns, scaled and fitted on training data only. Four components keep 99.4% of the information, so the seven numbers really hold four ideas: flat age, size, time of sale and floor height.
This led to two decisions. First, lease start year and flat age are copies of remaining lease, so I dropped them. Second, I tested PCA plus linear regression: it was worse, because PCA keeps variance, not what predicts price. So PCA helped me understand the data, but it isn't part of the final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[4:30–5:10]
I compared models of different types, all with the same 5-fold cross-validation. The baseline — always guessing the average — is 163 thousand dollars off.
Linear regression gets to 48 thousand; PCA plus linear regression is worse at 58. The tree models are clearly best: Random Forest at 30 thousand and LightGBM at 34.
I also compared training and validation error to check for overfitting. Linear regression scores the same on both — it's too simple. Random Forest is about twice as accurate on its training data, so it partly memorises.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[5:10–5:50]
Next I used FLAML, an AutoML tool, to search four model families automatically, using the same training data, log price target and 5-fold CV. I chose FLAML because it's fast and runs on current Colab; PyCaret doesn't support Colab's Python version.
LightGBM wins clearly, and FLAML's best model is about 30 thousand dollars off, better than default LightGBM. So it confirms my plan to tune LightGBM.
But I read it critically: FLAML ranked Random Forest last, yet my own Random Forest did very well. With only 50 trials, it barely explored Random Forest. So the leaderboard reflects the search budget, not just the models.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[5:50–6:25]
I tuned LightGBM with Optuna's TPE sampler, which is Bayesian optimisation: it learns from earlier trials instead of trying every combination like grid search.
In 20 trials it cut the error by 5,300 dollars, or 15.8%, far more than the fold-to-fold noise of about 350 dollars. The best model is bigger and learns more slowly than the default — 900 trees and 68 leaves — because HDB prices have a lot of detail, like town and size combinations.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[6:25–7:10]
Every model was retrained on the full training set and tested once on 9,262 flats it had never seen.
The tuned LightGBM is best: on average 27,700 dollars off, which is about 4.2%, and an R-squared of 0.963. Half of all flats are priced within about 20 thousand dollars. It also beats the AutoML model.
The test errors are all within 4% of the cross-validation errors, so there's no overfitting, and all my success criteria are met.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[7:10–7:55]
To explain the model I used SHAP. Each dot is a flat; red is a high value; dots to the right push the price up. Because the model predicts log price, a SHAP value of 0.1 is roughly plus 10%.
The three biggest drivers are floor area, being in a mature estate and remaining lease. In plain terms: each extra 10 square metres adds about 6%, a mature estate adds 10 to 20%, and flats with more than 85 years of lease left carry a clear premium. Floor height adds up to about 15%.
Permutation importance and the linear regression's coefficients rank the same top three, so I trust these explanations.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[7:55–8:35]
SHAP also explains single flats. A typical 4-room flat in Woodlands was predicted within 3%; the main reason it's below average is that Woodlands isn't a mature estate.
The biggest error was a 5-room flat in Bukit Merah: everything about it looks expensive — mature estate, large, long lease — so the model predicted 1.1 million, but it sold for 826 thousand. The cause is probably something the data doesn't include, like its exact location, condition or view.
That's the main limitation: no MRT distance or condition data. And SHAP shows what the model uses, not what causes prices.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[8:35–9:20]
Some reflections. First, the important numbers were hidden in text, so I learned to check every column's format.
Second, three columns said the same thing, and PCA helped me spot and remove the copies.
Third, my first rule for rare categories accidentally merged small but expensive towns like Bukit Timah, so I learned to check what each step really does.
Fourth, AutoML ranked Random Forest last only because it gave it few trials — AutoML is a guide, not the final answer.
And finally, a few flats are badly mispriced because of what the data can't see; better data would help more than a better model.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[9:20–9:45]
To conclude: size, location and remaining lease set an HDB flat's price. The tuned LightGBM predicts unseen flats with about 4% error, and its explanations make sense.
Next, I would add distance to MRT stations, test on the most recent months only, and add earlier years so the model learns price trends.
Thank you —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7863840" cy="182880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r>
              <a:rPr lang="en-US" sz="4400" b="1" dirty="0">
                <a:solidFill>
                  <a:schemeClr val="bg1"/>
                </a:solidFill>
                <a:latin typeface="Cambria" pitchFamily="34" charset="0"/>
                <a:ea typeface="Cambria" pitchFamily="34" charset="-122"/>
                <a:cs typeface="Cambria" pitchFamily="34" charset="-120"/>
              </a:rPr>
              <a:t>Title</a:t>
            </a:r>
            <a:endParaRPr lang="en-US" sz="4400" dirty="0"/>
          </a:p>
        </p:txBody>
      </p:sp>
      <p:sp>
        <p:nvSpPr>
          <p:cNvPr id="3" name="Text 0"/>
          <p:cNvSpPr>
            <a:spLocks noGrp="1"/>
          </p:cNvSpPr>
          <p:nvPr>
            <p:ph type="body" idx="101" hasCustomPrompt="1"/>
          </p:nvPr>
        </p:nvSpPr>
        <p:spPr>
          <a:xfrm>
            <a:off x="731520" y="3749040"/>
            <a:ext cx="7863840" cy="822960"/>
          </a:xfrm>
          <a:prstGeom prst="rect">
            <a:avLst/>
          </a:prstGeom>
          <a:noFill/>
          <a:ln/>
        </p:spPr>
        <p:txBody>
          <a:bodyPr wrap="square" rtlCol="0"/>
          <a:lstStyle>
            <a:lvl1pPr marL="0" indent="0">
              <a:buNone/>
              <a:defRPr lang="en-US" sz="2000" dirty="0">
                <a:solidFill>
                  <a:schemeClr val="accent5"/>
                </a:solidFill>
              </a:defRPr>
            </a:lvl1pPr>
          </a:lstStyle>
          <a:p>
            <a:pPr marL="0" indent="0">
              <a:buNone/>
            </a:pPr>
            <a:r>
              <a:rPr lang="en-US" sz="2000" dirty="0">
                <a:solidFill>
                  <a:schemeClr val="accent5"/>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200" b="1" dirty="0">
                <a:solidFill>
                  <a:schemeClr val="tx2"/>
                </a:solidFill>
                <a:latin typeface="Cambria" pitchFamily="34" charset="0"/>
                <a:ea typeface="Cambria" pitchFamily="34" charset="-122"/>
                <a:cs typeface="Cambria" pitchFamily="34" charset="-120"/>
              </a:defRPr>
            </a:lvl1pPr>
          </a:lstStyle>
          <a:p>
            <a:pPr marL="0" indent="0" algn="l">
              <a:buNone/>
            </a:pPr>
            <a:r>
              <a:rPr lang="en-US" sz="3200" b="1" dirty="0">
                <a:solidFill>
                  <a:schemeClr val="tx2"/>
                </a:solidFill>
                <a:latin typeface="Cambria" pitchFamily="34" charset="0"/>
                <a:ea typeface="Cambria" pitchFamily="34" charset="-122"/>
                <a:cs typeface="Cambria" pitchFamily="34" charset="-120"/>
              </a:rPr>
              <a:t>Title</a:t>
            </a: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3"/>
                </a:solidFill>
              </a:rPr>
              <a:t>Predicting HDB resale prices  |  THET HTUT ZAW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548640"/>
            <a:ext cx="10698480" cy="1097280"/>
          </a:xfrm>
          <a:prstGeom prst="rect">
            <a:avLst/>
          </a:prstGeom>
          <a:noFill/>
          <a:ln/>
        </p:spPr>
        <p:txBody>
          <a:bodyPr wrap="square" rtlCol="0"/>
          <a:lstStyle>
            <a:lvl1pPr marL="0" indent="0" algn="l">
              <a:buNone/>
              <a:defRPr lang="en-US" sz="3800" b="1" dirty="0">
                <a:solidFill>
                  <a:schemeClr val="bg1"/>
                </a:solidFill>
                <a:latin typeface="Cambria" pitchFamily="34" charset="0"/>
                <a:ea typeface="Cambria" pitchFamily="34" charset="-122"/>
                <a:cs typeface="Cambria" pitchFamily="34" charset="-120"/>
              </a:defRPr>
            </a:lvl1pPr>
          </a:lstStyle>
          <a:p>
            <a:pPr marL="0" indent="0" algn="l">
              <a:buNone/>
            </a:pPr>
            <a:r>
              <a:rPr lang="en-US" sz="3800" b="1" dirty="0">
                <a:solidFill>
                  <a:schemeClr val="bg1"/>
                </a:solidFill>
                <a:latin typeface="Cambria" pitchFamily="34" charset="0"/>
                <a:ea typeface="Cambria" pitchFamily="34" charset="-122"/>
                <a:cs typeface="Cambria" pitchFamily="34" charset="-120"/>
              </a:rPr>
              <a:t>Title</a:t>
            </a: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7863840" cy="182880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What Is an HDB Flat Really Worth?</a:t>
            </a:r>
            <a:endParaRPr lang="en-US" sz="4400" dirty="0"/>
          </a:p>
        </p:txBody>
      </p:sp>
      <p:sp>
        <p:nvSpPr>
          <p:cNvPr id="3" name="Text 0"/>
          <p:cNvSpPr>
            <a:spLocks noGrp="1"/>
          </p:cNvSpPr>
          <p:nvPr>
            <p:ph type="body" idx="101" hasCustomPrompt="1"/>
          </p:nvPr>
        </p:nvSpPr>
        <p:spPr>
          <a:xfrm>
            <a:off x="731520" y="3749040"/>
            <a:ext cx="7863840" cy="822960"/>
          </a:xfrm>
          <a:prstGeom prst="rect">
            <a:avLst/>
          </a:prstGeom>
          <a:noFill/>
          <a:ln/>
        </p:spPr>
        <p:txBody>
          <a:bodyPr wrap="square" lIns="0" tIns="0" rIns="0" bIns="0" rtlCol="0" anchor="t"/>
          <a:lstStyle/>
          <a:p>
            <a:pPr marL="0" indent="0">
              <a:buNone/>
            </a:pPr>
            <a:r>
              <a:rPr lang="en-US" sz="2000" dirty="0">
                <a:solidFill>
                  <a:schemeClr val="accent5"/>
                </a:solidFill>
              </a:rPr>
              <a:t>Predicting Singapore resale flat prices with an end-to-end machine-learning workflow</a:t>
            </a:r>
            <a:endParaRPr lang="en-US" sz="2000" dirty="0"/>
          </a:p>
        </p:txBody>
      </p:sp>
      <p:sp>
        <p:nvSpPr>
          <p:cNvPr id="4" name="t-by"/>
          <p:cNvSpPr txBox="1"/>
          <p:nvPr/>
        </p:nvSpPr>
        <p:spPr>
          <a:xfrm>
            <a:off x="731520" y="5852160"/>
            <a:ext cx="10515600" cy="365760"/>
          </a:xfrm>
          <a:prstGeom prst="rect">
            <a:avLst/>
          </a:prstGeom>
          <a:noFill/>
          <a:ln/>
        </p:spPr>
        <p:txBody>
          <a:bodyPr wrap="square" lIns="0" tIns="0" rIns="0" bIns="0" rtlCol="0" anchor="t"/>
          <a:lstStyle/>
          <a:p>
            <a:pPr marL="0" indent="0">
              <a:buNone/>
            </a:pPr>
            <a:r>
              <a:rPr lang="en-US" sz="1400" dirty="0">
                <a:solidFill>
                  <a:schemeClr val="accent5"/>
                </a:solidFill>
              </a:rPr>
              <a:t>THET HTUT ZAW   ·   Theme: Smart cities &amp; urban analytics   ·   Data: HDB resale prices, Jan 2025 – Oct 2026 (data.gov.sg)</a:t>
            </a:r>
          </a:p>
          <a:p>
            <a:r>
              <a:rPr lang="en-US" sz="1400" dirty="0">
                <a:solidFill>
                  <a:schemeClr val="accent5"/>
                </a:solidFill>
              </a:rPr>
              <a:t>GitHub Repository Link: https://github.com/theochan440-Giddy/New-Generation-Data-Science-.git</a:t>
            </a:r>
            <a:endParaRPr lang="en-US" sz="1400" dirty="0"/>
          </a:p>
        </p:txBody>
      </p:sp>
      <p:sp>
        <p:nvSpPr>
          <p:cNvPr id="5" name="t-circle"/>
          <p:cNvSpPr/>
          <p:nvPr/>
        </p:nvSpPr>
        <p:spPr>
          <a:xfrm>
            <a:off x="9052560" y="1554480"/>
            <a:ext cx="2468880" cy="2468880"/>
          </a:xfrm>
          <a:prstGeom prst="ellipse">
            <a:avLst/>
          </a:prstGeom>
          <a:solidFill>
            <a:schemeClr val="accent1"/>
          </a:solidFill>
          <a:ln w="12700">
            <a:solidFill>
              <a:schemeClr val="accent1"/>
            </a:solidFill>
            <a:prstDash val="solid"/>
          </a:ln>
        </p:spPr>
        <p:txBody>
          <a:bodyPr/>
          <a:lstStyle/>
          <a:p>
            <a:endParaRPr lang="en-SG"/>
          </a:p>
        </p:txBody>
      </p:sp>
      <p:pic>
        <p:nvPicPr>
          <p:cNvPr id="6" name="t-icon" descr="preencoded.png"/>
          <p:cNvPicPr>
            <a:picLocks noChangeAspect="1"/>
          </p:cNvPicPr>
          <p:nvPr/>
        </p:nvPicPr>
        <p:blipFill>
          <a:blip r:embed="rId3"/>
          <a:stretch>
            <a:fillRect/>
          </a:stretch>
        </p:blipFill>
        <p:spPr>
          <a:xfrm>
            <a:off x="9646920" y="214884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The problem: estimate a fair resale price</a:t>
            </a:r>
            <a:endParaRPr lang="en-US" sz="3200" dirty="0"/>
          </a:p>
        </p:txBody>
      </p:sp>
      <p:sp>
        <p:nvSpPr>
          <p:cNvPr id="3" name="p0-circle"/>
          <p:cNvSpPr/>
          <p:nvPr/>
        </p:nvSpPr>
        <p:spPr>
          <a:xfrm>
            <a:off x="548640" y="1371600"/>
            <a:ext cx="685800" cy="685800"/>
          </a:xfrm>
          <a:prstGeom prst="ellipse">
            <a:avLst/>
          </a:prstGeom>
          <a:solidFill>
            <a:schemeClr val="tx2"/>
          </a:solidFill>
          <a:ln w="12700">
            <a:solidFill>
              <a:schemeClr val="tx2"/>
            </a:solidFill>
            <a:prstDash val="solid"/>
          </a:ln>
        </p:spPr>
        <p:txBody>
          <a:bodyPr/>
          <a:lstStyle/>
          <a:p>
            <a:endParaRPr lang="en-SG"/>
          </a:p>
        </p:txBody>
      </p:sp>
      <p:pic>
        <p:nvPicPr>
          <p:cNvPr id="4" name="p0-icon" descr="preencoded.png"/>
          <p:cNvPicPr>
            <a:picLocks noChangeAspect="1"/>
          </p:cNvPicPr>
          <p:nvPr/>
        </p:nvPicPr>
        <p:blipFill>
          <a:blip r:embed="rId3"/>
          <a:stretch>
            <a:fillRect/>
          </a:stretch>
        </p:blipFill>
        <p:spPr>
          <a:xfrm>
            <a:off x="726948" y="1549908"/>
            <a:ext cx="329184" cy="329184"/>
          </a:xfrm>
          <a:prstGeom prst="rect">
            <a:avLst/>
          </a:prstGeom>
        </p:spPr>
      </p:pic>
      <p:sp>
        <p:nvSpPr>
          <p:cNvPr id="5" name="p0-h"/>
          <p:cNvSpPr txBox="1"/>
          <p:nvPr/>
        </p:nvSpPr>
        <p:spPr>
          <a:xfrm>
            <a:off x="1463040" y="1353312"/>
            <a:ext cx="4297680" cy="365760"/>
          </a:xfrm>
          <a:prstGeom prst="rect">
            <a:avLst/>
          </a:prstGeom>
          <a:noFill/>
          <a:ln/>
        </p:spPr>
        <p:txBody>
          <a:bodyPr wrap="square" lIns="0" tIns="0" rIns="0" bIns="0" rtlCol="0" anchor="t"/>
          <a:lstStyle/>
          <a:p>
            <a:pPr marL="0" indent="0">
              <a:buNone/>
            </a:pPr>
            <a:r>
              <a:rPr lang="en-US" sz="1800" b="1" dirty="0">
                <a:solidFill>
                  <a:schemeClr val="tx2"/>
                </a:solidFill>
              </a:rPr>
              <a:t>Who needs it</a:t>
            </a:r>
            <a:endParaRPr lang="en-US" sz="1800" dirty="0"/>
          </a:p>
        </p:txBody>
      </p:sp>
      <p:sp>
        <p:nvSpPr>
          <p:cNvPr id="6" name="p0-d"/>
          <p:cNvSpPr txBox="1"/>
          <p:nvPr/>
        </p:nvSpPr>
        <p:spPr>
          <a:xfrm>
            <a:off x="1463040" y="1737360"/>
            <a:ext cx="4297680" cy="868680"/>
          </a:xfrm>
          <a:prstGeom prst="rect">
            <a:avLst/>
          </a:prstGeom>
          <a:noFill/>
          <a:ln/>
        </p:spPr>
        <p:txBody>
          <a:bodyPr wrap="square" lIns="0" tIns="0" rIns="0" bIns="0" rtlCol="0" anchor="t"/>
          <a:lstStyle/>
          <a:p>
            <a:pPr marL="0" indent="0">
              <a:buNone/>
            </a:pPr>
            <a:r>
              <a:rPr lang="en-US" sz="1400" dirty="0">
                <a:solidFill>
                  <a:schemeClr val="tx1"/>
                </a:solidFill>
              </a:rPr>
              <a:t>Buyers and sellers want a fair price; planners want to understand what drives housing costs.</a:t>
            </a:r>
            <a:endParaRPr lang="en-US" sz="1400" dirty="0"/>
          </a:p>
        </p:txBody>
      </p:sp>
      <p:sp>
        <p:nvSpPr>
          <p:cNvPr id="7" name="p1-circle"/>
          <p:cNvSpPr/>
          <p:nvPr/>
        </p:nvSpPr>
        <p:spPr>
          <a:xfrm>
            <a:off x="548640" y="2834640"/>
            <a:ext cx="685800" cy="685800"/>
          </a:xfrm>
          <a:prstGeom prst="ellipse">
            <a:avLst/>
          </a:prstGeom>
          <a:solidFill>
            <a:schemeClr val="tx2"/>
          </a:solidFill>
          <a:ln w="12700">
            <a:solidFill>
              <a:schemeClr val="tx2"/>
            </a:solidFill>
            <a:prstDash val="solid"/>
          </a:ln>
        </p:spPr>
        <p:txBody>
          <a:bodyPr/>
          <a:lstStyle/>
          <a:p>
            <a:endParaRPr lang="en-SG"/>
          </a:p>
        </p:txBody>
      </p:sp>
      <p:pic>
        <p:nvPicPr>
          <p:cNvPr id="8" name="p1-icon" descr="preencoded.png"/>
          <p:cNvPicPr>
            <a:picLocks noChangeAspect="1"/>
          </p:cNvPicPr>
          <p:nvPr/>
        </p:nvPicPr>
        <p:blipFill>
          <a:blip r:embed="rId4"/>
          <a:stretch>
            <a:fillRect/>
          </a:stretch>
        </p:blipFill>
        <p:spPr>
          <a:xfrm>
            <a:off x="726948" y="3012948"/>
            <a:ext cx="329184" cy="329184"/>
          </a:xfrm>
          <a:prstGeom prst="rect">
            <a:avLst/>
          </a:prstGeom>
        </p:spPr>
      </p:pic>
      <p:sp>
        <p:nvSpPr>
          <p:cNvPr id="9" name="p1-h"/>
          <p:cNvSpPr txBox="1"/>
          <p:nvPr/>
        </p:nvSpPr>
        <p:spPr>
          <a:xfrm>
            <a:off x="1463040" y="2816352"/>
            <a:ext cx="4297680" cy="365760"/>
          </a:xfrm>
          <a:prstGeom prst="rect">
            <a:avLst/>
          </a:prstGeom>
          <a:noFill/>
          <a:ln/>
        </p:spPr>
        <p:txBody>
          <a:bodyPr wrap="square" lIns="0" tIns="0" rIns="0" bIns="0" rtlCol="0" anchor="t"/>
          <a:lstStyle/>
          <a:p>
            <a:pPr marL="0" indent="0">
              <a:buNone/>
            </a:pPr>
            <a:r>
              <a:rPr lang="en-US" sz="1800" b="1" dirty="0">
                <a:solidFill>
                  <a:schemeClr val="tx2"/>
                </a:solidFill>
              </a:rPr>
              <a:t>ML task</a:t>
            </a:r>
            <a:endParaRPr lang="en-US" sz="1800" dirty="0"/>
          </a:p>
        </p:txBody>
      </p:sp>
      <p:sp>
        <p:nvSpPr>
          <p:cNvPr id="10" name="p1-d"/>
          <p:cNvSpPr txBox="1"/>
          <p:nvPr/>
        </p:nvSpPr>
        <p:spPr>
          <a:xfrm>
            <a:off x="1463040" y="3200400"/>
            <a:ext cx="4297680" cy="868680"/>
          </a:xfrm>
          <a:prstGeom prst="rect">
            <a:avLst/>
          </a:prstGeom>
          <a:noFill/>
          <a:ln/>
        </p:spPr>
        <p:txBody>
          <a:bodyPr wrap="square" lIns="0" tIns="0" rIns="0" bIns="0" rtlCol="0" anchor="t"/>
          <a:lstStyle/>
          <a:p>
            <a:pPr marL="0" indent="0">
              <a:buNone/>
            </a:pPr>
            <a:r>
              <a:rPr lang="en-US" sz="1400" dirty="0">
                <a:solidFill>
                  <a:schemeClr val="tx1"/>
                </a:solidFill>
              </a:rPr>
              <a:t>Regression: predict a number (the price in S$) from the flat's features.</a:t>
            </a:r>
            <a:endParaRPr lang="en-US" sz="1400" dirty="0"/>
          </a:p>
        </p:txBody>
      </p:sp>
      <p:sp>
        <p:nvSpPr>
          <p:cNvPr id="11" name="p2-circle"/>
          <p:cNvSpPr/>
          <p:nvPr/>
        </p:nvSpPr>
        <p:spPr>
          <a:xfrm>
            <a:off x="548640" y="4297680"/>
            <a:ext cx="685800" cy="685800"/>
          </a:xfrm>
          <a:prstGeom prst="ellipse">
            <a:avLst/>
          </a:prstGeom>
          <a:solidFill>
            <a:schemeClr val="accent1"/>
          </a:solidFill>
          <a:ln w="12700">
            <a:solidFill>
              <a:schemeClr val="accent1"/>
            </a:solidFill>
            <a:prstDash val="solid"/>
          </a:ln>
        </p:spPr>
        <p:txBody>
          <a:bodyPr/>
          <a:lstStyle/>
          <a:p>
            <a:endParaRPr lang="en-SG"/>
          </a:p>
        </p:txBody>
      </p:sp>
      <p:pic>
        <p:nvPicPr>
          <p:cNvPr id="12" name="p2-icon" descr="preencoded.png"/>
          <p:cNvPicPr>
            <a:picLocks noChangeAspect="1"/>
          </p:cNvPicPr>
          <p:nvPr/>
        </p:nvPicPr>
        <p:blipFill>
          <a:blip r:embed="rId5"/>
          <a:stretch>
            <a:fillRect/>
          </a:stretch>
        </p:blipFill>
        <p:spPr>
          <a:xfrm>
            <a:off x="726948" y="4475988"/>
            <a:ext cx="329184" cy="329184"/>
          </a:xfrm>
          <a:prstGeom prst="rect">
            <a:avLst/>
          </a:prstGeom>
        </p:spPr>
      </p:pic>
      <p:sp>
        <p:nvSpPr>
          <p:cNvPr id="13" name="p2-h"/>
          <p:cNvSpPr txBox="1"/>
          <p:nvPr/>
        </p:nvSpPr>
        <p:spPr>
          <a:xfrm>
            <a:off x="1463040" y="4279392"/>
            <a:ext cx="4297680" cy="365760"/>
          </a:xfrm>
          <a:prstGeom prst="rect">
            <a:avLst/>
          </a:prstGeom>
          <a:noFill/>
          <a:ln/>
        </p:spPr>
        <p:txBody>
          <a:bodyPr wrap="square" lIns="0" tIns="0" rIns="0" bIns="0" rtlCol="0" anchor="t"/>
          <a:lstStyle/>
          <a:p>
            <a:pPr marL="0" indent="0">
              <a:buNone/>
            </a:pPr>
            <a:r>
              <a:rPr lang="en-US" sz="1800" b="1" dirty="0">
                <a:solidFill>
                  <a:schemeClr val="tx2"/>
                </a:solidFill>
              </a:rPr>
              <a:t>Target variable</a:t>
            </a:r>
            <a:endParaRPr lang="en-US" sz="1800" dirty="0"/>
          </a:p>
        </p:txBody>
      </p:sp>
      <p:sp>
        <p:nvSpPr>
          <p:cNvPr id="14" name="p2-d"/>
          <p:cNvSpPr txBox="1"/>
          <p:nvPr/>
        </p:nvSpPr>
        <p:spPr>
          <a:xfrm>
            <a:off x="1463040" y="4663440"/>
            <a:ext cx="4297680" cy="868680"/>
          </a:xfrm>
          <a:prstGeom prst="rect">
            <a:avLst/>
          </a:prstGeom>
          <a:noFill/>
          <a:ln/>
        </p:spPr>
        <p:txBody>
          <a:bodyPr wrap="square" lIns="0" tIns="0" rIns="0" bIns="0" rtlCol="0" anchor="t"/>
          <a:lstStyle/>
          <a:p>
            <a:pPr marL="0" indent="0">
              <a:buNone/>
            </a:pPr>
            <a:r>
              <a:rPr lang="en-US" sz="1400" dirty="0">
                <a:solidFill>
                  <a:schemeClr val="tx1"/>
                </a:solidFill>
              </a:rPr>
              <a:t>resale_price, using town, flat type, size, floor, flat model and remaining lease.</a:t>
            </a:r>
            <a:endParaRPr lang="en-US" sz="1400" dirty="0"/>
          </a:p>
        </p:txBody>
      </p:sp>
      <p:sp>
        <p:nvSpPr>
          <p:cNvPr id="15" name="p-s0"/>
          <p:cNvSpPr/>
          <p:nvPr/>
        </p:nvSpPr>
        <p:spPr>
          <a:xfrm>
            <a:off x="6263640" y="1325880"/>
            <a:ext cx="1691640" cy="1463040"/>
          </a:xfrm>
          <a:prstGeom prst="roundRect">
            <a:avLst>
              <a:gd name="adj" fmla="val 7500"/>
            </a:avLst>
          </a:prstGeom>
          <a:solidFill>
            <a:schemeClr val="bg2"/>
          </a:solidFill>
          <a:ln w="12700">
            <a:solidFill>
              <a:schemeClr val="bg2"/>
            </a:solidFill>
            <a:prstDash val="solid"/>
          </a:ln>
        </p:spPr>
        <p:txBody>
          <a:bodyPr/>
          <a:lstStyle/>
          <a:p>
            <a:endParaRPr lang="en-SG"/>
          </a:p>
        </p:txBody>
      </p:sp>
      <p:sp>
        <p:nvSpPr>
          <p:cNvPr id="16" name="p-s0-value"/>
          <p:cNvSpPr txBox="1"/>
          <p:nvPr/>
        </p:nvSpPr>
        <p:spPr>
          <a:xfrm>
            <a:off x="6428232" y="1435608"/>
            <a:ext cx="1417320" cy="73152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46,307</a:t>
            </a:r>
            <a:endParaRPr lang="en-US" sz="3000" dirty="0"/>
          </a:p>
        </p:txBody>
      </p:sp>
      <p:sp>
        <p:nvSpPr>
          <p:cNvPr id="17" name="p-s0-label"/>
          <p:cNvSpPr txBox="1"/>
          <p:nvPr/>
        </p:nvSpPr>
        <p:spPr>
          <a:xfrm>
            <a:off x="6428232" y="2167128"/>
            <a:ext cx="1417320" cy="548640"/>
          </a:xfrm>
          <a:prstGeom prst="rect">
            <a:avLst/>
          </a:prstGeom>
          <a:noFill/>
          <a:ln/>
        </p:spPr>
        <p:txBody>
          <a:bodyPr wrap="square" lIns="0" tIns="0" rIns="0" bIns="0" rtlCol="0" anchor="t"/>
          <a:lstStyle/>
          <a:p>
            <a:pPr marL="0" indent="0">
              <a:buNone/>
            </a:pPr>
            <a:r>
              <a:rPr lang="en-US" sz="1400" dirty="0">
                <a:solidFill>
                  <a:schemeClr val="tx1"/>
                </a:solidFill>
              </a:rPr>
              <a:t>resale sales</a:t>
            </a:r>
            <a:endParaRPr lang="en-US" sz="1400" dirty="0"/>
          </a:p>
        </p:txBody>
      </p:sp>
      <p:sp>
        <p:nvSpPr>
          <p:cNvPr id="18" name="p-s1"/>
          <p:cNvSpPr/>
          <p:nvPr/>
        </p:nvSpPr>
        <p:spPr>
          <a:xfrm>
            <a:off x="8092440" y="1325880"/>
            <a:ext cx="1691640" cy="1463040"/>
          </a:xfrm>
          <a:prstGeom prst="roundRect">
            <a:avLst>
              <a:gd name="adj" fmla="val 7500"/>
            </a:avLst>
          </a:prstGeom>
          <a:solidFill>
            <a:schemeClr val="bg2"/>
          </a:solidFill>
          <a:ln w="12700">
            <a:solidFill>
              <a:schemeClr val="bg2"/>
            </a:solidFill>
            <a:prstDash val="solid"/>
          </a:ln>
        </p:spPr>
        <p:txBody>
          <a:bodyPr/>
          <a:lstStyle/>
          <a:p>
            <a:endParaRPr lang="en-SG"/>
          </a:p>
        </p:txBody>
      </p:sp>
      <p:sp>
        <p:nvSpPr>
          <p:cNvPr id="19" name="p-s1-value"/>
          <p:cNvSpPr txBox="1"/>
          <p:nvPr/>
        </p:nvSpPr>
        <p:spPr>
          <a:xfrm>
            <a:off x="8257032" y="1435608"/>
            <a:ext cx="1417320" cy="73152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22</a:t>
            </a:r>
            <a:endParaRPr lang="en-US" sz="3000" dirty="0"/>
          </a:p>
        </p:txBody>
      </p:sp>
      <p:sp>
        <p:nvSpPr>
          <p:cNvPr id="20" name="p-s1-label"/>
          <p:cNvSpPr txBox="1"/>
          <p:nvPr/>
        </p:nvSpPr>
        <p:spPr>
          <a:xfrm>
            <a:off x="8257032" y="2167128"/>
            <a:ext cx="1417320" cy="548640"/>
          </a:xfrm>
          <a:prstGeom prst="rect">
            <a:avLst/>
          </a:prstGeom>
          <a:noFill/>
          <a:ln/>
        </p:spPr>
        <p:txBody>
          <a:bodyPr wrap="square" lIns="0" tIns="0" rIns="0" bIns="0" rtlCol="0" anchor="t"/>
          <a:lstStyle/>
          <a:p>
            <a:pPr marL="0" indent="0">
              <a:buNone/>
            </a:pPr>
            <a:r>
              <a:rPr lang="en-US" sz="1400" dirty="0">
                <a:solidFill>
                  <a:schemeClr val="tx1"/>
                </a:solidFill>
              </a:rPr>
              <a:t>months: Jan 2025 – Oct 2026</a:t>
            </a:r>
            <a:endParaRPr lang="en-US" sz="1400" dirty="0"/>
          </a:p>
        </p:txBody>
      </p:sp>
      <p:sp>
        <p:nvSpPr>
          <p:cNvPr id="21" name="p-s2"/>
          <p:cNvSpPr/>
          <p:nvPr/>
        </p:nvSpPr>
        <p:spPr>
          <a:xfrm>
            <a:off x="9921240" y="1325880"/>
            <a:ext cx="1691640" cy="1463040"/>
          </a:xfrm>
          <a:prstGeom prst="roundRect">
            <a:avLst>
              <a:gd name="adj" fmla="val 7500"/>
            </a:avLst>
          </a:prstGeom>
          <a:solidFill>
            <a:schemeClr val="bg2"/>
          </a:solidFill>
          <a:ln w="12700">
            <a:solidFill>
              <a:schemeClr val="bg2"/>
            </a:solidFill>
            <a:prstDash val="solid"/>
          </a:ln>
        </p:spPr>
        <p:txBody>
          <a:bodyPr/>
          <a:lstStyle/>
          <a:p>
            <a:endParaRPr lang="en-SG"/>
          </a:p>
        </p:txBody>
      </p:sp>
      <p:sp>
        <p:nvSpPr>
          <p:cNvPr id="22" name="p-s2-value"/>
          <p:cNvSpPr txBox="1"/>
          <p:nvPr/>
        </p:nvSpPr>
        <p:spPr>
          <a:xfrm>
            <a:off x="10085832" y="1435608"/>
            <a:ext cx="1417320" cy="73152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S$630k</a:t>
            </a:r>
            <a:endParaRPr lang="en-US" sz="3000" dirty="0"/>
          </a:p>
        </p:txBody>
      </p:sp>
      <p:sp>
        <p:nvSpPr>
          <p:cNvPr id="23" name="p-s2-label"/>
          <p:cNvSpPr txBox="1"/>
          <p:nvPr/>
        </p:nvSpPr>
        <p:spPr>
          <a:xfrm>
            <a:off x="10085832" y="2167128"/>
            <a:ext cx="1417320" cy="548640"/>
          </a:xfrm>
          <a:prstGeom prst="rect">
            <a:avLst/>
          </a:prstGeom>
          <a:noFill/>
          <a:ln/>
        </p:spPr>
        <p:txBody>
          <a:bodyPr wrap="square" lIns="0" tIns="0" rIns="0" bIns="0" rtlCol="0" anchor="t"/>
          <a:lstStyle/>
          <a:p>
            <a:pPr marL="0" indent="0">
              <a:buNone/>
            </a:pPr>
            <a:r>
              <a:rPr lang="en-US" sz="1400" dirty="0">
                <a:solidFill>
                  <a:schemeClr val="tx1"/>
                </a:solidFill>
              </a:rPr>
              <a:t>median price</a:t>
            </a:r>
            <a:endParaRPr lang="en-US" sz="1400" dirty="0"/>
          </a:p>
        </p:txBody>
      </p:sp>
      <p:sp>
        <p:nvSpPr>
          <p:cNvPr id="24" name="p-mh"/>
          <p:cNvSpPr txBox="1"/>
          <p:nvPr/>
        </p:nvSpPr>
        <p:spPr>
          <a:xfrm>
            <a:off x="6263640" y="3063240"/>
            <a:ext cx="5349240" cy="365760"/>
          </a:xfrm>
          <a:prstGeom prst="rect">
            <a:avLst/>
          </a:prstGeom>
          <a:noFill/>
          <a:ln/>
        </p:spPr>
        <p:txBody>
          <a:bodyPr wrap="square" lIns="0" tIns="0" rIns="0" bIns="0" rtlCol="0" anchor="t"/>
          <a:lstStyle/>
          <a:p>
            <a:pPr marL="0" indent="0">
              <a:buNone/>
            </a:pPr>
            <a:r>
              <a:rPr lang="en-US" sz="1800" b="1" dirty="0">
                <a:solidFill>
                  <a:schemeClr val="tx2"/>
                </a:solidFill>
              </a:rPr>
              <a:t>How success is measured</a:t>
            </a:r>
            <a:endParaRPr lang="en-US" sz="1800" dirty="0"/>
          </a:p>
        </p:txBody>
      </p:sp>
      <p:graphicFrame>
        <p:nvGraphicFramePr>
          <p:cNvPr id="26" name="p-t"/>
          <p:cNvGraphicFramePr>
            <a:graphicFrameLocks noGrp="1"/>
          </p:cNvGraphicFramePr>
          <p:nvPr>
            <p:extLst>
              <p:ext uri="{D42A27DB-BD31-4B8C-83A1-F6EECF244321}">
                <p14:modId xmlns:p14="http://schemas.microsoft.com/office/powerpoint/2010/main" val="1579011935"/>
              </p:ext>
            </p:extLst>
          </p:nvPr>
        </p:nvGraphicFramePr>
        <p:xfrm>
          <a:off x="6263640" y="3520440"/>
          <a:ext cx="5349240" cy="1828800"/>
        </p:xfrm>
        <a:graphic>
          <a:graphicData uri="http://schemas.openxmlformats.org/drawingml/2006/table">
            <a:tbl>
              <a:tblPr/>
              <a:tblGrid>
                <a:gridCol w="146304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365760">
                <a:tc>
                  <a:txBody>
                    <a:bodyPr/>
                    <a:lstStyle/>
                    <a:p>
                      <a:pPr marL="0" indent="0" algn="l">
                        <a:buNone/>
                      </a:pPr>
                      <a:r>
                        <a:rPr lang="en-US" sz="1400" b="1" dirty="0">
                          <a:solidFill>
                            <a:schemeClr val="bg1"/>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marL="0" indent="0" algn="l">
                        <a:buNone/>
                      </a:pPr>
                      <a:r>
                        <a:rPr lang="en-US" sz="1400" b="1" dirty="0">
                          <a:solidFill>
                            <a:schemeClr val="bg1"/>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indent="0" algn="l">
                        <a:buNone/>
                      </a:pPr>
                      <a:r>
                        <a:rPr lang="en-US" sz="1400" b="1" dirty="0">
                          <a:solidFill>
                            <a:schemeClr val="tx1"/>
                          </a:solidFill>
                          <a:latin typeface="Calibri" pitchFamily="34" charset="0"/>
                          <a:ea typeface="Calibri" pitchFamily="34" charset="-122"/>
                          <a:cs typeface="Calibri" pitchFamily="34" charset="-120"/>
                        </a:rPr>
                        <a:t>MAE (main)</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BE1D8"/>
                    </a:solidFill>
                  </a:tcPr>
                </a:tc>
                <a:tc>
                  <a:txBody>
                    <a:bodyPr/>
                    <a:lstStyle/>
                    <a:p>
                      <a:pPr marL="0" indent="0" algn="l">
                        <a:buNone/>
                      </a:pPr>
                      <a:r>
                        <a:rPr lang="en-US" sz="1400" b="1" dirty="0">
                          <a:solidFill>
                            <a:schemeClr val="tx1"/>
                          </a:solidFill>
                          <a:latin typeface="Calibri" pitchFamily="34" charset="0"/>
                          <a:ea typeface="Calibri" pitchFamily="34" charset="-122"/>
                          <a:cs typeface="Calibri" pitchFamily="34" charset="-120"/>
                        </a:rPr>
                        <a:t>Average error in S$: "we are $X off"</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BE1D8"/>
                    </a:solidFill>
                  </a:tcPr>
                </a:tc>
                <a:extLst>
                  <a:ext uri="{0D108BD9-81ED-4DB2-BD59-A6C34878D82A}">
                    <a16:rowId xmlns:a16="http://schemas.microsoft.com/office/drawing/2014/main" val="10001"/>
                  </a:ext>
                </a:extLst>
              </a:tr>
              <a:tr h="365760">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MAPE</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Error as %: fair for cheap and expensive flats</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extLst>
                  <a:ext uri="{0D108BD9-81ED-4DB2-BD59-A6C34878D82A}">
                    <a16:rowId xmlns:a16="http://schemas.microsoft.com/office/drawing/2014/main" val="10002"/>
                  </a:ext>
                </a:extLst>
              </a:tr>
              <a:tr h="365760">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RMSE</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Penalises a few very big misses</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R²</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Share of price differences explained</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Workflow: eight steps, test set used once</a:t>
            </a:r>
            <a:endParaRPr lang="en-US" sz="3200" dirty="0"/>
          </a:p>
        </p:txBody>
      </p:sp>
      <p:sp>
        <p:nvSpPr>
          <p:cNvPr id="3" name="w0"/>
          <p:cNvSpPr/>
          <p:nvPr/>
        </p:nvSpPr>
        <p:spPr>
          <a:xfrm>
            <a:off x="548640" y="1371600"/>
            <a:ext cx="2560320" cy="1783080"/>
          </a:xfrm>
          <a:prstGeom prst="roundRect">
            <a:avLst>
              <a:gd name="adj" fmla="val 6154"/>
            </a:avLst>
          </a:prstGeom>
          <a:solidFill>
            <a:schemeClr val="bg2"/>
          </a:solidFill>
          <a:ln w="12700">
            <a:solidFill>
              <a:schemeClr val="bg2"/>
            </a:solidFill>
            <a:prstDash val="solid"/>
          </a:ln>
        </p:spPr>
        <p:txBody>
          <a:bodyPr/>
          <a:lstStyle/>
          <a:p>
            <a:endParaRPr lang="en-SG"/>
          </a:p>
        </p:txBody>
      </p:sp>
      <p:sp>
        <p:nvSpPr>
          <p:cNvPr id="4" name="w0-circle"/>
          <p:cNvSpPr/>
          <p:nvPr/>
        </p:nvSpPr>
        <p:spPr>
          <a:xfrm>
            <a:off x="777240" y="1600200"/>
            <a:ext cx="594360" cy="594360"/>
          </a:xfrm>
          <a:prstGeom prst="ellipse">
            <a:avLst/>
          </a:prstGeom>
          <a:solidFill>
            <a:schemeClr val="tx2"/>
          </a:solidFill>
          <a:ln w="12700">
            <a:solidFill>
              <a:schemeClr val="tx2"/>
            </a:solidFill>
            <a:prstDash val="solid"/>
          </a:ln>
        </p:spPr>
        <p:txBody>
          <a:bodyPr/>
          <a:lstStyle/>
          <a:p>
            <a:endParaRPr lang="en-SG"/>
          </a:p>
        </p:txBody>
      </p:sp>
      <p:pic>
        <p:nvPicPr>
          <p:cNvPr id="5" name="w0-icon" descr="preencoded.png"/>
          <p:cNvPicPr>
            <a:picLocks noChangeAspect="1"/>
          </p:cNvPicPr>
          <p:nvPr/>
        </p:nvPicPr>
        <p:blipFill>
          <a:blip r:embed="rId3"/>
          <a:stretch>
            <a:fillRect/>
          </a:stretch>
        </p:blipFill>
        <p:spPr>
          <a:xfrm>
            <a:off x="931774" y="1754734"/>
            <a:ext cx="285293" cy="285293"/>
          </a:xfrm>
          <a:prstGeom prst="rect">
            <a:avLst/>
          </a:prstGeom>
        </p:spPr>
      </p:pic>
      <p:sp>
        <p:nvSpPr>
          <p:cNvPr id="6" name="w0-n"/>
          <p:cNvSpPr txBox="1"/>
          <p:nvPr/>
        </p:nvSpPr>
        <p:spPr>
          <a:xfrm>
            <a:off x="2468880" y="1600200"/>
            <a:ext cx="411480" cy="457200"/>
          </a:xfrm>
          <a:prstGeom prst="rect">
            <a:avLst/>
          </a:prstGeom>
          <a:noFill/>
          <a:ln/>
        </p:spPr>
        <p:txBody>
          <a:bodyPr wrap="square" lIns="0" tIns="0" rIns="0" bIns="0" rtlCol="0" anchor="t"/>
          <a:lstStyle/>
          <a:p>
            <a:pPr marL="0" indent="0" algn="r">
              <a:buNone/>
            </a:pPr>
            <a:r>
              <a:rPr lang="en-US" sz="2400" b="1" dirty="0">
                <a:solidFill>
                  <a:schemeClr val="accent3"/>
                </a:solidFill>
              </a:rPr>
              <a:t>1</a:t>
            </a:r>
            <a:endParaRPr lang="en-US" sz="2400" dirty="0"/>
          </a:p>
        </p:txBody>
      </p:sp>
      <p:sp>
        <p:nvSpPr>
          <p:cNvPr id="7" name="w0-h"/>
          <p:cNvSpPr txBox="1"/>
          <p:nvPr/>
        </p:nvSpPr>
        <p:spPr>
          <a:xfrm>
            <a:off x="777240" y="2286000"/>
            <a:ext cx="2194560" cy="365760"/>
          </a:xfrm>
          <a:prstGeom prst="rect">
            <a:avLst/>
          </a:prstGeom>
          <a:noFill/>
          <a:ln/>
        </p:spPr>
        <p:txBody>
          <a:bodyPr wrap="square" lIns="0" tIns="0" rIns="0" bIns="0" rtlCol="0" anchor="t"/>
          <a:lstStyle/>
          <a:p>
            <a:pPr marL="0" indent="0">
              <a:buNone/>
            </a:pPr>
            <a:r>
              <a:rPr lang="en-US" sz="1700" b="1" dirty="0">
                <a:solidFill>
                  <a:schemeClr val="tx2"/>
                </a:solidFill>
              </a:rPr>
              <a:t>Data check</a:t>
            </a:r>
            <a:endParaRPr lang="en-US" sz="1700" dirty="0"/>
          </a:p>
        </p:txBody>
      </p:sp>
      <p:sp>
        <p:nvSpPr>
          <p:cNvPr id="8" name="w0-d"/>
          <p:cNvSpPr txBox="1"/>
          <p:nvPr/>
        </p:nvSpPr>
        <p:spPr>
          <a:xfrm>
            <a:off x="777240" y="2633472"/>
            <a:ext cx="2194560" cy="457200"/>
          </a:xfrm>
          <a:prstGeom prst="rect">
            <a:avLst/>
          </a:prstGeom>
          <a:noFill/>
          <a:ln/>
        </p:spPr>
        <p:txBody>
          <a:bodyPr wrap="square" lIns="0" tIns="0" rIns="0" bIns="0" rtlCol="0" anchor="t"/>
          <a:lstStyle/>
          <a:p>
            <a:pPr marL="0" indent="0">
              <a:buNone/>
            </a:pPr>
            <a:r>
              <a:rPr lang="en-US" sz="1400" dirty="0">
                <a:solidFill>
                  <a:schemeClr val="tx1"/>
                </a:solidFill>
              </a:rPr>
              <a:t>No blanks; text → numbers</a:t>
            </a:r>
            <a:endParaRPr lang="en-US" sz="1400" dirty="0"/>
          </a:p>
        </p:txBody>
      </p:sp>
      <p:sp>
        <p:nvSpPr>
          <p:cNvPr id="9" name="w1"/>
          <p:cNvSpPr/>
          <p:nvPr/>
        </p:nvSpPr>
        <p:spPr>
          <a:xfrm>
            <a:off x="3383280" y="1371600"/>
            <a:ext cx="2560320" cy="1783080"/>
          </a:xfrm>
          <a:prstGeom prst="roundRect">
            <a:avLst>
              <a:gd name="adj" fmla="val 6154"/>
            </a:avLst>
          </a:prstGeom>
          <a:solidFill>
            <a:schemeClr val="bg2"/>
          </a:solidFill>
          <a:ln w="12700">
            <a:solidFill>
              <a:schemeClr val="bg2"/>
            </a:solidFill>
            <a:prstDash val="solid"/>
          </a:ln>
        </p:spPr>
        <p:txBody>
          <a:bodyPr/>
          <a:lstStyle/>
          <a:p>
            <a:endParaRPr lang="en-SG"/>
          </a:p>
        </p:txBody>
      </p:sp>
      <p:sp>
        <p:nvSpPr>
          <p:cNvPr id="10" name="w1-circle"/>
          <p:cNvSpPr/>
          <p:nvPr/>
        </p:nvSpPr>
        <p:spPr>
          <a:xfrm>
            <a:off x="3611880" y="1600200"/>
            <a:ext cx="594360" cy="594360"/>
          </a:xfrm>
          <a:prstGeom prst="ellipse">
            <a:avLst/>
          </a:prstGeom>
          <a:solidFill>
            <a:schemeClr val="tx2"/>
          </a:solidFill>
          <a:ln w="12700">
            <a:solidFill>
              <a:schemeClr val="tx2"/>
            </a:solidFill>
            <a:prstDash val="solid"/>
          </a:ln>
        </p:spPr>
        <p:txBody>
          <a:bodyPr/>
          <a:lstStyle/>
          <a:p>
            <a:endParaRPr lang="en-SG"/>
          </a:p>
        </p:txBody>
      </p:sp>
      <p:pic>
        <p:nvPicPr>
          <p:cNvPr id="11" name="w1-icon" descr="preencoded.png"/>
          <p:cNvPicPr>
            <a:picLocks noChangeAspect="1"/>
          </p:cNvPicPr>
          <p:nvPr/>
        </p:nvPicPr>
        <p:blipFill>
          <a:blip r:embed="rId4"/>
          <a:stretch>
            <a:fillRect/>
          </a:stretch>
        </p:blipFill>
        <p:spPr>
          <a:xfrm>
            <a:off x="3766414" y="1754734"/>
            <a:ext cx="285293" cy="285293"/>
          </a:xfrm>
          <a:prstGeom prst="rect">
            <a:avLst/>
          </a:prstGeom>
        </p:spPr>
      </p:pic>
      <p:sp>
        <p:nvSpPr>
          <p:cNvPr id="12" name="w1-n"/>
          <p:cNvSpPr txBox="1"/>
          <p:nvPr/>
        </p:nvSpPr>
        <p:spPr>
          <a:xfrm>
            <a:off x="5303520" y="1600200"/>
            <a:ext cx="411480" cy="457200"/>
          </a:xfrm>
          <a:prstGeom prst="rect">
            <a:avLst/>
          </a:prstGeom>
          <a:noFill/>
          <a:ln/>
        </p:spPr>
        <p:txBody>
          <a:bodyPr wrap="square" lIns="0" tIns="0" rIns="0" bIns="0" rtlCol="0" anchor="t"/>
          <a:lstStyle/>
          <a:p>
            <a:pPr marL="0" indent="0" algn="r">
              <a:buNone/>
            </a:pPr>
            <a:r>
              <a:rPr lang="en-US" sz="2400" b="1" dirty="0">
                <a:solidFill>
                  <a:schemeClr val="accent3"/>
                </a:solidFill>
              </a:rPr>
              <a:t>2</a:t>
            </a:r>
            <a:endParaRPr lang="en-US" sz="2400" dirty="0"/>
          </a:p>
        </p:txBody>
      </p:sp>
      <p:sp>
        <p:nvSpPr>
          <p:cNvPr id="13" name="w1-h"/>
          <p:cNvSpPr txBox="1"/>
          <p:nvPr/>
        </p:nvSpPr>
        <p:spPr>
          <a:xfrm>
            <a:off x="3611880" y="2286000"/>
            <a:ext cx="2194560" cy="365760"/>
          </a:xfrm>
          <a:prstGeom prst="rect">
            <a:avLst/>
          </a:prstGeom>
          <a:noFill/>
          <a:ln/>
        </p:spPr>
        <p:txBody>
          <a:bodyPr wrap="square" lIns="0" tIns="0" rIns="0" bIns="0" rtlCol="0" anchor="t"/>
          <a:lstStyle/>
          <a:p>
            <a:pPr marL="0" indent="0">
              <a:buNone/>
            </a:pPr>
            <a:r>
              <a:rPr lang="en-US" sz="1700" b="1" dirty="0">
                <a:solidFill>
                  <a:schemeClr val="tx2"/>
                </a:solidFill>
              </a:rPr>
              <a:t>EDA</a:t>
            </a:r>
            <a:endParaRPr lang="en-US" sz="1700" dirty="0"/>
          </a:p>
        </p:txBody>
      </p:sp>
      <p:sp>
        <p:nvSpPr>
          <p:cNvPr id="14" name="w1-d"/>
          <p:cNvSpPr txBox="1"/>
          <p:nvPr/>
        </p:nvSpPr>
        <p:spPr>
          <a:xfrm>
            <a:off x="3611880" y="2633472"/>
            <a:ext cx="2194560" cy="457200"/>
          </a:xfrm>
          <a:prstGeom prst="rect">
            <a:avLst/>
          </a:prstGeom>
          <a:noFill/>
          <a:ln/>
        </p:spPr>
        <p:txBody>
          <a:bodyPr wrap="square" lIns="0" tIns="0" rIns="0" bIns="0" rtlCol="0" anchor="t"/>
          <a:lstStyle/>
          <a:p>
            <a:pPr marL="0" indent="0">
              <a:buNone/>
            </a:pPr>
            <a:r>
              <a:rPr lang="en-US" sz="1400" dirty="0">
                <a:solidFill>
                  <a:schemeClr val="tx1"/>
                </a:solidFill>
              </a:rPr>
              <a:t>Charts, ANOVA, correlations</a:t>
            </a:r>
            <a:endParaRPr lang="en-US" sz="1400" dirty="0"/>
          </a:p>
        </p:txBody>
      </p:sp>
      <p:sp>
        <p:nvSpPr>
          <p:cNvPr id="15" name="w2"/>
          <p:cNvSpPr/>
          <p:nvPr/>
        </p:nvSpPr>
        <p:spPr>
          <a:xfrm>
            <a:off x="6217920" y="1371600"/>
            <a:ext cx="2560320" cy="1783080"/>
          </a:xfrm>
          <a:prstGeom prst="roundRect">
            <a:avLst>
              <a:gd name="adj" fmla="val 6154"/>
            </a:avLst>
          </a:prstGeom>
          <a:solidFill>
            <a:schemeClr val="bg2"/>
          </a:solidFill>
          <a:ln w="12700">
            <a:solidFill>
              <a:schemeClr val="bg2"/>
            </a:solidFill>
            <a:prstDash val="solid"/>
          </a:ln>
        </p:spPr>
        <p:txBody>
          <a:bodyPr/>
          <a:lstStyle/>
          <a:p>
            <a:endParaRPr lang="en-SG"/>
          </a:p>
        </p:txBody>
      </p:sp>
      <p:sp>
        <p:nvSpPr>
          <p:cNvPr id="16" name="w2-circle"/>
          <p:cNvSpPr/>
          <p:nvPr/>
        </p:nvSpPr>
        <p:spPr>
          <a:xfrm>
            <a:off x="6446520" y="1600200"/>
            <a:ext cx="594360" cy="594360"/>
          </a:xfrm>
          <a:prstGeom prst="ellipse">
            <a:avLst/>
          </a:prstGeom>
          <a:solidFill>
            <a:schemeClr val="accent1"/>
          </a:solidFill>
          <a:ln w="12700">
            <a:solidFill>
              <a:schemeClr val="accent1"/>
            </a:solidFill>
            <a:prstDash val="solid"/>
          </a:ln>
        </p:spPr>
        <p:txBody>
          <a:bodyPr/>
          <a:lstStyle/>
          <a:p>
            <a:endParaRPr lang="en-SG"/>
          </a:p>
        </p:txBody>
      </p:sp>
      <p:pic>
        <p:nvPicPr>
          <p:cNvPr id="17" name="w2-icon" descr="preencoded.png"/>
          <p:cNvPicPr>
            <a:picLocks noChangeAspect="1"/>
          </p:cNvPicPr>
          <p:nvPr/>
        </p:nvPicPr>
        <p:blipFill>
          <a:blip r:embed="rId5"/>
          <a:stretch>
            <a:fillRect/>
          </a:stretch>
        </p:blipFill>
        <p:spPr>
          <a:xfrm>
            <a:off x="6601054" y="1754734"/>
            <a:ext cx="285293" cy="285293"/>
          </a:xfrm>
          <a:prstGeom prst="rect">
            <a:avLst/>
          </a:prstGeom>
        </p:spPr>
      </p:pic>
      <p:sp>
        <p:nvSpPr>
          <p:cNvPr id="18" name="w2-n"/>
          <p:cNvSpPr txBox="1"/>
          <p:nvPr/>
        </p:nvSpPr>
        <p:spPr>
          <a:xfrm>
            <a:off x="8138160" y="1600200"/>
            <a:ext cx="411480" cy="457200"/>
          </a:xfrm>
          <a:prstGeom prst="rect">
            <a:avLst/>
          </a:prstGeom>
          <a:noFill/>
          <a:ln/>
        </p:spPr>
        <p:txBody>
          <a:bodyPr wrap="square" lIns="0" tIns="0" rIns="0" bIns="0" rtlCol="0" anchor="t"/>
          <a:lstStyle/>
          <a:p>
            <a:pPr marL="0" indent="0" algn="r">
              <a:buNone/>
            </a:pPr>
            <a:r>
              <a:rPr lang="en-US" sz="2400" b="1" dirty="0">
                <a:solidFill>
                  <a:schemeClr val="accent3"/>
                </a:solidFill>
              </a:rPr>
              <a:t>3</a:t>
            </a:r>
            <a:endParaRPr lang="en-US" sz="2400" dirty="0"/>
          </a:p>
        </p:txBody>
      </p:sp>
      <p:sp>
        <p:nvSpPr>
          <p:cNvPr id="19" name="w2-h"/>
          <p:cNvSpPr txBox="1"/>
          <p:nvPr/>
        </p:nvSpPr>
        <p:spPr>
          <a:xfrm>
            <a:off x="6446520" y="2286000"/>
            <a:ext cx="2194560" cy="365760"/>
          </a:xfrm>
          <a:prstGeom prst="rect">
            <a:avLst/>
          </a:prstGeom>
          <a:noFill/>
          <a:ln/>
        </p:spPr>
        <p:txBody>
          <a:bodyPr wrap="square" lIns="0" tIns="0" rIns="0" bIns="0" rtlCol="0" anchor="t"/>
          <a:lstStyle/>
          <a:p>
            <a:pPr marL="0" indent="0">
              <a:buNone/>
            </a:pPr>
            <a:r>
              <a:rPr lang="en-US" sz="1700" b="1" dirty="0">
                <a:solidFill>
                  <a:schemeClr val="tx2"/>
                </a:solidFill>
              </a:rPr>
              <a:t>80/20 split</a:t>
            </a:r>
            <a:endParaRPr lang="en-US" sz="1700" dirty="0"/>
          </a:p>
        </p:txBody>
      </p:sp>
      <p:sp>
        <p:nvSpPr>
          <p:cNvPr id="20" name="w2-d"/>
          <p:cNvSpPr txBox="1"/>
          <p:nvPr/>
        </p:nvSpPr>
        <p:spPr>
          <a:xfrm>
            <a:off x="6446520" y="2633472"/>
            <a:ext cx="2194560" cy="457200"/>
          </a:xfrm>
          <a:prstGeom prst="rect">
            <a:avLst/>
          </a:prstGeom>
          <a:noFill/>
          <a:ln/>
        </p:spPr>
        <p:txBody>
          <a:bodyPr wrap="square" lIns="0" tIns="0" rIns="0" bIns="0" rtlCol="0" anchor="t"/>
          <a:lstStyle/>
          <a:p>
            <a:pPr marL="0" indent="0">
              <a:buNone/>
            </a:pPr>
            <a:r>
              <a:rPr lang="en-US" sz="1400" dirty="0">
                <a:solidFill>
                  <a:schemeClr val="tx1"/>
                </a:solidFill>
              </a:rPr>
              <a:t>Before anything is fitted</a:t>
            </a:r>
            <a:endParaRPr lang="en-US" sz="1400" dirty="0"/>
          </a:p>
        </p:txBody>
      </p:sp>
      <p:sp>
        <p:nvSpPr>
          <p:cNvPr id="21" name="w3"/>
          <p:cNvSpPr/>
          <p:nvPr/>
        </p:nvSpPr>
        <p:spPr>
          <a:xfrm>
            <a:off x="9052560" y="1371600"/>
            <a:ext cx="2560320" cy="1783080"/>
          </a:xfrm>
          <a:prstGeom prst="roundRect">
            <a:avLst>
              <a:gd name="adj" fmla="val 6154"/>
            </a:avLst>
          </a:prstGeom>
          <a:solidFill>
            <a:schemeClr val="bg2"/>
          </a:solidFill>
          <a:ln w="12700">
            <a:solidFill>
              <a:schemeClr val="bg2"/>
            </a:solidFill>
            <a:prstDash val="solid"/>
          </a:ln>
        </p:spPr>
        <p:txBody>
          <a:bodyPr/>
          <a:lstStyle/>
          <a:p>
            <a:endParaRPr lang="en-SG"/>
          </a:p>
        </p:txBody>
      </p:sp>
      <p:sp>
        <p:nvSpPr>
          <p:cNvPr id="22" name="w3-circle"/>
          <p:cNvSpPr/>
          <p:nvPr/>
        </p:nvSpPr>
        <p:spPr>
          <a:xfrm>
            <a:off x="9281160" y="1600200"/>
            <a:ext cx="594360" cy="594360"/>
          </a:xfrm>
          <a:prstGeom prst="ellipse">
            <a:avLst/>
          </a:prstGeom>
          <a:solidFill>
            <a:schemeClr val="tx2"/>
          </a:solidFill>
          <a:ln w="12700">
            <a:solidFill>
              <a:schemeClr val="tx2"/>
            </a:solidFill>
            <a:prstDash val="solid"/>
          </a:ln>
        </p:spPr>
        <p:txBody>
          <a:bodyPr/>
          <a:lstStyle/>
          <a:p>
            <a:endParaRPr lang="en-SG"/>
          </a:p>
        </p:txBody>
      </p:sp>
      <p:pic>
        <p:nvPicPr>
          <p:cNvPr id="23" name="w3-icon" descr="preencoded.png"/>
          <p:cNvPicPr>
            <a:picLocks noChangeAspect="1"/>
          </p:cNvPicPr>
          <p:nvPr/>
        </p:nvPicPr>
        <p:blipFill>
          <a:blip r:embed="rId6"/>
          <a:stretch>
            <a:fillRect/>
          </a:stretch>
        </p:blipFill>
        <p:spPr>
          <a:xfrm>
            <a:off x="9435694" y="1754734"/>
            <a:ext cx="285293" cy="285293"/>
          </a:xfrm>
          <a:prstGeom prst="rect">
            <a:avLst/>
          </a:prstGeom>
        </p:spPr>
      </p:pic>
      <p:sp>
        <p:nvSpPr>
          <p:cNvPr id="24" name="w3-n"/>
          <p:cNvSpPr txBox="1"/>
          <p:nvPr/>
        </p:nvSpPr>
        <p:spPr>
          <a:xfrm>
            <a:off x="10972800" y="1600200"/>
            <a:ext cx="411480" cy="457200"/>
          </a:xfrm>
          <a:prstGeom prst="rect">
            <a:avLst/>
          </a:prstGeom>
          <a:noFill/>
          <a:ln/>
        </p:spPr>
        <p:txBody>
          <a:bodyPr wrap="square" lIns="0" tIns="0" rIns="0" bIns="0" rtlCol="0" anchor="t"/>
          <a:lstStyle/>
          <a:p>
            <a:pPr marL="0" indent="0" algn="r">
              <a:buNone/>
            </a:pPr>
            <a:r>
              <a:rPr lang="en-US" sz="2400" b="1" dirty="0">
                <a:solidFill>
                  <a:schemeClr val="accent3"/>
                </a:solidFill>
              </a:rPr>
              <a:t>4</a:t>
            </a:r>
            <a:endParaRPr lang="en-US" sz="2400" dirty="0"/>
          </a:p>
        </p:txBody>
      </p:sp>
      <p:sp>
        <p:nvSpPr>
          <p:cNvPr id="25" name="w3-h"/>
          <p:cNvSpPr txBox="1"/>
          <p:nvPr/>
        </p:nvSpPr>
        <p:spPr>
          <a:xfrm>
            <a:off x="9281160" y="2286000"/>
            <a:ext cx="2194560" cy="365760"/>
          </a:xfrm>
          <a:prstGeom prst="rect">
            <a:avLst/>
          </a:prstGeom>
          <a:noFill/>
          <a:ln/>
        </p:spPr>
        <p:txBody>
          <a:bodyPr wrap="square" lIns="0" tIns="0" rIns="0" bIns="0" rtlCol="0" anchor="t"/>
          <a:lstStyle/>
          <a:p>
            <a:pPr marL="0" indent="0">
              <a:buNone/>
            </a:pPr>
            <a:r>
              <a:rPr lang="en-US" sz="1700" b="1" dirty="0">
                <a:solidFill>
                  <a:schemeClr val="tx2"/>
                </a:solidFill>
              </a:rPr>
              <a:t>PCA</a:t>
            </a:r>
            <a:endParaRPr lang="en-US" sz="1700" dirty="0"/>
          </a:p>
        </p:txBody>
      </p:sp>
      <p:sp>
        <p:nvSpPr>
          <p:cNvPr id="26" name="w3-d"/>
          <p:cNvSpPr txBox="1"/>
          <p:nvPr/>
        </p:nvSpPr>
        <p:spPr>
          <a:xfrm>
            <a:off x="9281160" y="2633472"/>
            <a:ext cx="2194560" cy="457200"/>
          </a:xfrm>
          <a:prstGeom prst="rect">
            <a:avLst/>
          </a:prstGeom>
          <a:noFill/>
          <a:ln/>
        </p:spPr>
        <p:txBody>
          <a:bodyPr wrap="square" lIns="0" tIns="0" rIns="0" bIns="0" rtlCol="0" anchor="t"/>
          <a:lstStyle/>
          <a:p>
            <a:pPr marL="0" indent="0">
              <a:buNone/>
            </a:pPr>
            <a:r>
              <a:rPr lang="en-US" sz="1400" dirty="0">
                <a:solidFill>
                  <a:schemeClr val="tx1"/>
                </a:solidFill>
              </a:rPr>
              <a:t>Finds duplicate information</a:t>
            </a:r>
            <a:endParaRPr lang="en-US" sz="1400" dirty="0"/>
          </a:p>
        </p:txBody>
      </p:sp>
      <p:sp>
        <p:nvSpPr>
          <p:cNvPr id="27" name="w4"/>
          <p:cNvSpPr/>
          <p:nvPr/>
        </p:nvSpPr>
        <p:spPr>
          <a:xfrm>
            <a:off x="548640" y="3474720"/>
            <a:ext cx="2560320" cy="1783080"/>
          </a:xfrm>
          <a:prstGeom prst="roundRect">
            <a:avLst>
              <a:gd name="adj" fmla="val 6154"/>
            </a:avLst>
          </a:prstGeom>
          <a:solidFill>
            <a:schemeClr val="bg2"/>
          </a:solidFill>
          <a:ln w="12700">
            <a:solidFill>
              <a:schemeClr val="bg2"/>
            </a:solidFill>
            <a:prstDash val="solid"/>
          </a:ln>
        </p:spPr>
        <p:txBody>
          <a:bodyPr/>
          <a:lstStyle/>
          <a:p>
            <a:endParaRPr lang="en-SG"/>
          </a:p>
        </p:txBody>
      </p:sp>
      <p:sp>
        <p:nvSpPr>
          <p:cNvPr id="28" name="w4-circle"/>
          <p:cNvSpPr/>
          <p:nvPr/>
        </p:nvSpPr>
        <p:spPr>
          <a:xfrm>
            <a:off x="777240" y="3703320"/>
            <a:ext cx="594360" cy="594360"/>
          </a:xfrm>
          <a:prstGeom prst="ellipse">
            <a:avLst/>
          </a:prstGeom>
          <a:solidFill>
            <a:schemeClr val="tx2"/>
          </a:solidFill>
          <a:ln w="12700">
            <a:solidFill>
              <a:schemeClr val="tx2"/>
            </a:solidFill>
            <a:prstDash val="solid"/>
          </a:ln>
        </p:spPr>
        <p:txBody>
          <a:bodyPr/>
          <a:lstStyle/>
          <a:p>
            <a:endParaRPr lang="en-SG"/>
          </a:p>
        </p:txBody>
      </p:sp>
      <p:pic>
        <p:nvPicPr>
          <p:cNvPr id="29" name="w4-icon" descr="preencoded.png"/>
          <p:cNvPicPr>
            <a:picLocks noChangeAspect="1"/>
          </p:cNvPicPr>
          <p:nvPr/>
        </p:nvPicPr>
        <p:blipFill>
          <a:blip r:embed="rId7"/>
          <a:stretch>
            <a:fillRect/>
          </a:stretch>
        </p:blipFill>
        <p:spPr>
          <a:xfrm>
            <a:off x="931774" y="3857854"/>
            <a:ext cx="285293" cy="285293"/>
          </a:xfrm>
          <a:prstGeom prst="rect">
            <a:avLst/>
          </a:prstGeom>
        </p:spPr>
      </p:pic>
      <p:sp>
        <p:nvSpPr>
          <p:cNvPr id="30" name="w4-n"/>
          <p:cNvSpPr txBox="1"/>
          <p:nvPr/>
        </p:nvSpPr>
        <p:spPr>
          <a:xfrm>
            <a:off x="2468880" y="3703320"/>
            <a:ext cx="411480" cy="457200"/>
          </a:xfrm>
          <a:prstGeom prst="rect">
            <a:avLst/>
          </a:prstGeom>
          <a:noFill/>
          <a:ln/>
        </p:spPr>
        <p:txBody>
          <a:bodyPr wrap="square" lIns="0" tIns="0" rIns="0" bIns="0" rtlCol="0" anchor="t"/>
          <a:lstStyle/>
          <a:p>
            <a:pPr marL="0" indent="0" algn="r">
              <a:buNone/>
            </a:pPr>
            <a:r>
              <a:rPr lang="en-US" sz="2400" b="1" dirty="0">
                <a:solidFill>
                  <a:schemeClr val="accent3"/>
                </a:solidFill>
              </a:rPr>
              <a:t>5</a:t>
            </a:r>
            <a:endParaRPr lang="en-US" sz="2400" dirty="0"/>
          </a:p>
        </p:txBody>
      </p:sp>
      <p:sp>
        <p:nvSpPr>
          <p:cNvPr id="31" name="w4-h"/>
          <p:cNvSpPr txBox="1"/>
          <p:nvPr/>
        </p:nvSpPr>
        <p:spPr>
          <a:xfrm>
            <a:off x="777240" y="4389120"/>
            <a:ext cx="2194560" cy="365760"/>
          </a:xfrm>
          <a:prstGeom prst="rect">
            <a:avLst/>
          </a:prstGeom>
          <a:noFill/>
          <a:ln/>
        </p:spPr>
        <p:txBody>
          <a:bodyPr wrap="square" lIns="0" tIns="0" rIns="0" bIns="0" rtlCol="0" anchor="t"/>
          <a:lstStyle/>
          <a:p>
            <a:pPr marL="0" indent="0">
              <a:buNone/>
            </a:pPr>
            <a:r>
              <a:rPr lang="en-US" sz="1700" b="1" dirty="0">
                <a:solidFill>
                  <a:schemeClr val="tx2"/>
                </a:solidFill>
              </a:rPr>
              <a:t>Pipeline</a:t>
            </a:r>
            <a:endParaRPr lang="en-US" sz="1700" dirty="0"/>
          </a:p>
        </p:txBody>
      </p:sp>
      <p:sp>
        <p:nvSpPr>
          <p:cNvPr id="32" name="w4-d"/>
          <p:cNvSpPr txBox="1"/>
          <p:nvPr/>
        </p:nvSpPr>
        <p:spPr>
          <a:xfrm>
            <a:off x="777240" y="4736592"/>
            <a:ext cx="2194560" cy="457200"/>
          </a:xfrm>
          <a:prstGeom prst="rect">
            <a:avLst/>
          </a:prstGeom>
          <a:noFill/>
          <a:ln/>
        </p:spPr>
        <p:txBody>
          <a:bodyPr wrap="square" lIns="0" tIns="0" rIns="0" bIns="0" rtlCol="0" anchor="t"/>
          <a:lstStyle/>
          <a:p>
            <a:pPr marL="0" indent="0">
              <a:buNone/>
            </a:pPr>
            <a:r>
              <a:rPr lang="en-US" sz="1400" dirty="0">
                <a:solidFill>
                  <a:schemeClr val="tx1"/>
                </a:solidFill>
              </a:rPr>
              <a:t>Scale, one-hot, log target</a:t>
            </a:r>
            <a:endParaRPr lang="en-US" sz="1400" dirty="0"/>
          </a:p>
        </p:txBody>
      </p:sp>
      <p:sp>
        <p:nvSpPr>
          <p:cNvPr id="33" name="w5"/>
          <p:cNvSpPr/>
          <p:nvPr/>
        </p:nvSpPr>
        <p:spPr>
          <a:xfrm>
            <a:off x="3383280" y="3474720"/>
            <a:ext cx="2560320" cy="1783080"/>
          </a:xfrm>
          <a:prstGeom prst="roundRect">
            <a:avLst>
              <a:gd name="adj" fmla="val 6154"/>
            </a:avLst>
          </a:prstGeom>
          <a:solidFill>
            <a:schemeClr val="bg2"/>
          </a:solidFill>
          <a:ln w="12700">
            <a:solidFill>
              <a:schemeClr val="bg2"/>
            </a:solidFill>
            <a:prstDash val="solid"/>
          </a:ln>
        </p:spPr>
        <p:txBody>
          <a:bodyPr/>
          <a:lstStyle/>
          <a:p>
            <a:endParaRPr lang="en-SG"/>
          </a:p>
        </p:txBody>
      </p:sp>
      <p:sp>
        <p:nvSpPr>
          <p:cNvPr id="34" name="w5-circle"/>
          <p:cNvSpPr/>
          <p:nvPr/>
        </p:nvSpPr>
        <p:spPr>
          <a:xfrm>
            <a:off x="3611880" y="3703320"/>
            <a:ext cx="594360" cy="594360"/>
          </a:xfrm>
          <a:prstGeom prst="ellipse">
            <a:avLst/>
          </a:prstGeom>
          <a:solidFill>
            <a:schemeClr val="tx2"/>
          </a:solidFill>
          <a:ln w="12700">
            <a:solidFill>
              <a:schemeClr val="tx2"/>
            </a:solidFill>
            <a:prstDash val="solid"/>
          </a:ln>
        </p:spPr>
        <p:txBody>
          <a:bodyPr/>
          <a:lstStyle/>
          <a:p>
            <a:endParaRPr lang="en-SG"/>
          </a:p>
        </p:txBody>
      </p:sp>
      <p:pic>
        <p:nvPicPr>
          <p:cNvPr id="35" name="w5-icon" descr="preencoded.png"/>
          <p:cNvPicPr>
            <a:picLocks noChangeAspect="1"/>
          </p:cNvPicPr>
          <p:nvPr/>
        </p:nvPicPr>
        <p:blipFill>
          <a:blip r:embed="rId8"/>
          <a:stretch>
            <a:fillRect/>
          </a:stretch>
        </p:blipFill>
        <p:spPr>
          <a:xfrm>
            <a:off x="3766414" y="3857854"/>
            <a:ext cx="285293" cy="285293"/>
          </a:xfrm>
          <a:prstGeom prst="rect">
            <a:avLst/>
          </a:prstGeom>
        </p:spPr>
      </p:pic>
      <p:sp>
        <p:nvSpPr>
          <p:cNvPr id="36" name="w5-n"/>
          <p:cNvSpPr txBox="1"/>
          <p:nvPr/>
        </p:nvSpPr>
        <p:spPr>
          <a:xfrm>
            <a:off x="5303520" y="3703320"/>
            <a:ext cx="411480" cy="457200"/>
          </a:xfrm>
          <a:prstGeom prst="rect">
            <a:avLst/>
          </a:prstGeom>
          <a:noFill/>
          <a:ln/>
        </p:spPr>
        <p:txBody>
          <a:bodyPr wrap="square" lIns="0" tIns="0" rIns="0" bIns="0" rtlCol="0" anchor="t"/>
          <a:lstStyle/>
          <a:p>
            <a:pPr marL="0" indent="0" algn="r">
              <a:buNone/>
            </a:pPr>
            <a:r>
              <a:rPr lang="en-US" sz="2400" b="1" dirty="0">
                <a:solidFill>
                  <a:schemeClr val="accent3"/>
                </a:solidFill>
              </a:rPr>
              <a:t>6</a:t>
            </a:r>
            <a:endParaRPr lang="en-US" sz="2400" dirty="0"/>
          </a:p>
        </p:txBody>
      </p:sp>
      <p:sp>
        <p:nvSpPr>
          <p:cNvPr id="37" name="w5-h"/>
          <p:cNvSpPr txBox="1"/>
          <p:nvPr/>
        </p:nvSpPr>
        <p:spPr>
          <a:xfrm>
            <a:off x="3611880" y="4389120"/>
            <a:ext cx="2194560" cy="365760"/>
          </a:xfrm>
          <a:prstGeom prst="rect">
            <a:avLst/>
          </a:prstGeom>
          <a:noFill/>
          <a:ln/>
        </p:spPr>
        <p:txBody>
          <a:bodyPr wrap="square" lIns="0" tIns="0" rIns="0" bIns="0" rtlCol="0" anchor="t"/>
          <a:lstStyle/>
          <a:p>
            <a:pPr marL="0" indent="0">
              <a:buNone/>
            </a:pPr>
            <a:r>
              <a:rPr lang="en-US" sz="1700" b="1" dirty="0">
                <a:solidFill>
                  <a:schemeClr val="tx2"/>
                </a:solidFill>
              </a:rPr>
              <a:t>AutoML</a:t>
            </a:r>
            <a:endParaRPr lang="en-US" sz="1700" dirty="0"/>
          </a:p>
        </p:txBody>
      </p:sp>
      <p:sp>
        <p:nvSpPr>
          <p:cNvPr id="38" name="w5-d"/>
          <p:cNvSpPr txBox="1"/>
          <p:nvPr/>
        </p:nvSpPr>
        <p:spPr>
          <a:xfrm>
            <a:off x="3611880" y="4736592"/>
            <a:ext cx="2194560" cy="457200"/>
          </a:xfrm>
          <a:prstGeom prst="rect">
            <a:avLst/>
          </a:prstGeom>
          <a:noFill/>
          <a:ln/>
        </p:spPr>
        <p:txBody>
          <a:bodyPr wrap="square" lIns="0" tIns="0" rIns="0" bIns="0" rtlCol="0" anchor="t"/>
          <a:lstStyle/>
          <a:p>
            <a:pPr marL="0" indent="0">
              <a:buNone/>
            </a:pPr>
            <a:r>
              <a:rPr lang="en-US" sz="1400" dirty="0">
                <a:solidFill>
                  <a:schemeClr val="tx1"/>
                </a:solidFill>
              </a:rPr>
              <a:t>FLAML, 4 model families</a:t>
            </a:r>
            <a:endParaRPr lang="en-US" sz="1400" dirty="0"/>
          </a:p>
        </p:txBody>
      </p:sp>
      <p:sp>
        <p:nvSpPr>
          <p:cNvPr id="39" name="w6"/>
          <p:cNvSpPr/>
          <p:nvPr/>
        </p:nvSpPr>
        <p:spPr>
          <a:xfrm>
            <a:off x="6217920" y="3474720"/>
            <a:ext cx="2560320" cy="1783080"/>
          </a:xfrm>
          <a:prstGeom prst="roundRect">
            <a:avLst>
              <a:gd name="adj" fmla="val 6154"/>
            </a:avLst>
          </a:prstGeom>
          <a:solidFill>
            <a:schemeClr val="bg2"/>
          </a:solidFill>
          <a:ln w="12700">
            <a:solidFill>
              <a:schemeClr val="bg2"/>
            </a:solidFill>
            <a:prstDash val="solid"/>
          </a:ln>
        </p:spPr>
        <p:txBody>
          <a:bodyPr/>
          <a:lstStyle/>
          <a:p>
            <a:endParaRPr lang="en-SG"/>
          </a:p>
        </p:txBody>
      </p:sp>
      <p:sp>
        <p:nvSpPr>
          <p:cNvPr id="40" name="w6-circle"/>
          <p:cNvSpPr/>
          <p:nvPr/>
        </p:nvSpPr>
        <p:spPr>
          <a:xfrm>
            <a:off x="6446520" y="3703320"/>
            <a:ext cx="594360" cy="594360"/>
          </a:xfrm>
          <a:prstGeom prst="ellipse">
            <a:avLst/>
          </a:prstGeom>
          <a:solidFill>
            <a:schemeClr val="tx2"/>
          </a:solidFill>
          <a:ln w="12700">
            <a:solidFill>
              <a:schemeClr val="tx2"/>
            </a:solidFill>
            <a:prstDash val="solid"/>
          </a:ln>
        </p:spPr>
        <p:txBody>
          <a:bodyPr/>
          <a:lstStyle/>
          <a:p>
            <a:endParaRPr lang="en-SG"/>
          </a:p>
        </p:txBody>
      </p:sp>
      <p:pic>
        <p:nvPicPr>
          <p:cNvPr id="41" name="w6-icon" descr="preencoded.png"/>
          <p:cNvPicPr>
            <a:picLocks noChangeAspect="1"/>
          </p:cNvPicPr>
          <p:nvPr/>
        </p:nvPicPr>
        <p:blipFill>
          <a:blip r:embed="rId9"/>
          <a:stretch>
            <a:fillRect/>
          </a:stretch>
        </p:blipFill>
        <p:spPr>
          <a:xfrm>
            <a:off x="6601054" y="3857854"/>
            <a:ext cx="285293" cy="285293"/>
          </a:xfrm>
          <a:prstGeom prst="rect">
            <a:avLst/>
          </a:prstGeom>
        </p:spPr>
      </p:pic>
      <p:sp>
        <p:nvSpPr>
          <p:cNvPr id="42" name="w6-n"/>
          <p:cNvSpPr txBox="1"/>
          <p:nvPr/>
        </p:nvSpPr>
        <p:spPr>
          <a:xfrm>
            <a:off x="8138160" y="3703320"/>
            <a:ext cx="411480" cy="457200"/>
          </a:xfrm>
          <a:prstGeom prst="rect">
            <a:avLst/>
          </a:prstGeom>
          <a:noFill/>
          <a:ln/>
        </p:spPr>
        <p:txBody>
          <a:bodyPr wrap="square" lIns="0" tIns="0" rIns="0" bIns="0" rtlCol="0" anchor="t"/>
          <a:lstStyle/>
          <a:p>
            <a:pPr marL="0" indent="0" algn="r">
              <a:buNone/>
            </a:pPr>
            <a:r>
              <a:rPr lang="en-US" sz="2400" b="1" dirty="0">
                <a:solidFill>
                  <a:schemeClr val="accent3"/>
                </a:solidFill>
              </a:rPr>
              <a:t>7</a:t>
            </a:r>
            <a:endParaRPr lang="en-US" sz="2400" dirty="0"/>
          </a:p>
        </p:txBody>
      </p:sp>
      <p:sp>
        <p:nvSpPr>
          <p:cNvPr id="43" name="w6-h"/>
          <p:cNvSpPr txBox="1"/>
          <p:nvPr/>
        </p:nvSpPr>
        <p:spPr>
          <a:xfrm>
            <a:off x="6446520" y="4389120"/>
            <a:ext cx="2194560" cy="365760"/>
          </a:xfrm>
          <a:prstGeom prst="rect">
            <a:avLst/>
          </a:prstGeom>
          <a:noFill/>
          <a:ln/>
        </p:spPr>
        <p:txBody>
          <a:bodyPr wrap="square" lIns="0" tIns="0" rIns="0" bIns="0" rtlCol="0" anchor="t"/>
          <a:lstStyle/>
          <a:p>
            <a:pPr marL="0" indent="0">
              <a:buNone/>
            </a:pPr>
            <a:r>
              <a:rPr lang="en-US" sz="1700" b="1" dirty="0">
                <a:solidFill>
                  <a:schemeClr val="tx2"/>
                </a:solidFill>
              </a:rPr>
              <a:t>Tuning</a:t>
            </a:r>
            <a:endParaRPr lang="en-US" sz="1700" dirty="0"/>
          </a:p>
        </p:txBody>
      </p:sp>
      <p:sp>
        <p:nvSpPr>
          <p:cNvPr id="44" name="w6-d"/>
          <p:cNvSpPr txBox="1"/>
          <p:nvPr/>
        </p:nvSpPr>
        <p:spPr>
          <a:xfrm>
            <a:off x="6446520" y="4736592"/>
            <a:ext cx="2194560" cy="457200"/>
          </a:xfrm>
          <a:prstGeom prst="rect">
            <a:avLst/>
          </a:prstGeom>
          <a:noFill/>
          <a:ln/>
        </p:spPr>
        <p:txBody>
          <a:bodyPr wrap="square" lIns="0" tIns="0" rIns="0" bIns="0" rtlCol="0" anchor="t"/>
          <a:lstStyle/>
          <a:p>
            <a:pPr marL="0" indent="0">
              <a:buNone/>
            </a:pPr>
            <a:r>
              <a:rPr lang="en-US" sz="1400" dirty="0">
                <a:solidFill>
                  <a:schemeClr val="tx1"/>
                </a:solidFill>
              </a:rPr>
              <a:t>Optuna, 20 trials</a:t>
            </a:r>
            <a:endParaRPr lang="en-US" sz="1400" dirty="0"/>
          </a:p>
        </p:txBody>
      </p:sp>
      <p:sp>
        <p:nvSpPr>
          <p:cNvPr id="45" name="w7"/>
          <p:cNvSpPr/>
          <p:nvPr/>
        </p:nvSpPr>
        <p:spPr>
          <a:xfrm>
            <a:off x="9052560" y="3474720"/>
            <a:ext cx="2560320" cy="1783080"/>
          </a:xfrm>
          <a:prstGeom prst="roundRect">
            <a:avLst>
              <a:gd name="adj" fmla="val 6154"/>
            </a:avLst>
          </a:prstGeom>
          <a:solidFill>
            <a:schemeClr val="bg2"/>
          </a:solidFill>
          <a:ln w="12700">
            <a:solidFill>
              <a:schemeClr val="bg2"/>
            </a:solidFill>
            <a:prstDash val="solid"/>
          </a:ln>
        </p:spPr>
        <p:txBody>
          <a:bodyPr/>
          <a:lstStyle/>
          <a:p>
            <a:endParaRPr lang="en-SG"/>
          </a:p>
        </p:txBody>
      </p:sp>
      <p:sp>
        <p:nvSpPr>
          <p:cNvPr id="46" name="w7-circle"/>
          <p:cNvSpPr/>
          <p:nvPr/>
        </p:nvSpPr>
        <p:spPr>
          <a:xfrm>
            <a:off x="9281160" y="3703320"/>
            <a:ext cx="594360" cy="594360"/>
          </a:xfrm>
          <a:prstGeom prst="ellipse">
            <a:avLst/>
          </a:prstGeom>
          <a:solidFill>
            <a:schemeClr val="accent1"/>
          </a:solidFill>
          <a:ln w="12700">
            <a:solidFill>
              <a:schemeClr val="accent1"/>
            </a:solidFill>
            <a:prstDash val="solid"/>
          </a:ln>
        </p:spPr>
        <p:txBody>
          <a:bodyPr/>
          <a:lstStyle/>
          <a:p>
            <a:endParaRPr lang="en-SG"/>
          </a:p>
        </p:txBody>
      </p:sp>
      <p:pic>
        <p:nvPicPr>
          <p:cNvPr id="47" name="w7-icon" descr="preencoded.png"/>
          <p:cNvPicPr>
            <a:picLocks noChangeAspect="1"/>
          </p:cNvPicPr>
          <p:nvPr/>
        </p:nvPicPr>
        <p:blipFill>
          <a:blip r:embed="rId10"/>
          <a:stretch>
            <a:fillRect/>
          </a:stretch>
        </p:blipFill>
        <p:spPr>
          <a:xfrm>
            <a:off x="9435694" y="3857854"/>
            <a:ext cx="285293" cy="285293"/>
          </a:xfrm>
          <a:prstGeom prst="rect">
            <a:avLst/>
          </a:prstGeom>
        </p:spPr>
      </p:pic>
      <p:sp>
        <p:nvSpPr>
          <p:cNvPr id="48" name="w7-n"/>
          <p:cNvSpPr txBox="1"/>
          <p:nvPr/>
        </p:nvSpPr>
        <p:spPr>
          <a:xfrm>
            <a:off x="10972800" y="3703320"/>
            <a:ext cx="411480" cy="457200"/>
          </a:xfrm>
          <a:prstGeom prst="rect">
            <a:avLst/>
          </a:prstGeom>
          <a:noFill/>
          <a:ln/>
        </p:spPr>
        <p:txBody>
          <a:bodyPr wrap="square" lIns="0" tIns="0" rIns="0" bIns="0" rtlCol="0" anchor="t"/>
          <a:lstStyle/>
          <a:p>
            <a:pPr marL="0" indent="0" algn="r">
              <a:buNone/>
            </a:pPr>
            <a:r>
              <a:rPr lang="en-US" sz="2400" b="1" dirty="0">
                <a:solidFill>
                  <a:schemeClr val="accent3"/>
                </a:solidFill>
              </a:rPr>
              <a:t>8</a:t>
            </a:r>
            <a:endParaRPr lang="en-US" sz="2400" dirty="0"/>
          </a:p>
        </p:txBody>
      </p:sp>
      <p:sp>
        <p:nvSpPr>
          <p:cNvPr id="49" name="w7-h"/>
          <p:cNvSpPr txBox="1"/>
          <p:nvPr/>
        </p:nvSpPr>
        <p:spPr>
          <a:xfrm>
            <a:off x="9281160" y="4389120"/>
            <a:ext cx="2194560" cy="365760"/>
          </a:xfrm>
          <a:prstGeom prst="rect">
            <a:avLst/>
          </a:prstGeom>
          <a:noFill/>
          <a:ln/>
        </p:spPr>
        <p:txBody>
          <a:bodyPr wrap="square" lIns="0" tIns="0" rIns="0" bIns="0" rtlCol="0" anchor="t"/>
          <a:lstStyle/>
          <a:p>
            <a:pPr marL="0" indent="0">
              <a:buNone/>
            </a:pPr>
            <a:r>
              <a:rPr lang="en-US" sz="1700" b="1" dirty="0">
                <a:solidFill>
                  <a:schemeClr val="tx2"/>
                </a:solidFill>
              </a:rPr>
              <a:t>Test &amp; explain</a:t>
            </a:r>
            <a:endParaRPr lang="en-US" sz="1700" dirty="0"/>
          </a:p>
        </p:txBody>
      </p:sp>
      <p:sp>
        <p:nvSpPr>
          <p:cNvPr id="50" name="w7-d"/>
          <p:cNvSpPr txBox="1"/>
          <p:nvPr/>
        </p:nvSpPr>
        <p:spPr>
          <a:xfrm>
            <a:off x="9281160" y="4736592"/>
            <a:ext cx="2194560" cy="457200"/>
          </a:xfrm>
          <a:prstGeom prst="rect">
            <a:avLst/>
          </a:prstGeom>
          <a:noFill/>
          <a:ln/>
        </p:spPr>
        <p:txBody>
          <a:bodyPr wrap="square" lIns="0" tIns="0" rIns="0" bIns="0" rtlCol="0" anchor="t"/>
          <a:lstStyle/>
          <a:p>
            <a:pPr marL="0" indent="0">
              <a:buNone/>
            </a:pPr>
            <a:r>
              <a:rPr lang="en-US" sz="1400" dirty="0">
                <a:solidFill>
                  <a:schemeClr val="tx1"/>
                </a:solidFill>
              </a:rPr>
              <a:t>One test, then SHAP</a:t>
            </a:r>
            <a:endParaRPr lang="en-US" sz="1400" dirty="0"/>
          </a:p>
        </p:txBody>
      </p:sp>
      <p:sp>
        <p:nvSpPr>
          <p:cNvPr id="51" name="w-leak"/>
          <p:cNvSpPr txBox="1"/>
          <p:nvPr/>
        </p:nvSpPr>
        <p:spPr>
          <a:xfrm>
            <a:off x="548640" y="5715000"/>
            <a:ext cx="11064240" cy="411480"/>
          </a:xfrm>
          <a:prstGeom prst="rect">
            <a:avLst/>
          </a:prstGeom>
          <a:noFill/>
          <a:ln/>
        </p:spPr>
        <p:txBody>
          <a:bodyPr wrap="square" lIns="0" tIns="0" rIns="0" bIns="0" rtlCol="0" anchor="t"/>
          <a:lstStyle/>
          <a:p>
            <a:pPr marL="0" indent="0">
              <a:buNone/>
            </a:pPr>
            <a:r>
              <a:rPr lang="en-US" sz="1600" b="1" dirty="0">
                <a:solidFill>
                  <a:schemeClr val="accent1"/>
                </a:solidFill>
              </a:rPr>
              <a:t>No leakage: </a:t>
            </a:r>
            <a:r>
              <a:rPr lang="en-US" sz="1600" dirty="0">
                <a:solidFill>
                  <a:schemeClr val="tx1"/>
                </a:solidFill>
              </a:rPr>
              <a:t>scaling, PCA, AutoML and tuning all learn from the training set only, using 5-fold cross-validation.</a:t>
            </a:r>
            <a:endParaRPr lang="en-US" sz="1600" dirty="0"/>
          </a:p>
        </p:txBody>
      </p:sp>
      <p:sp>
        <p:nvSpPr>
          <p:cNvPr id="5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Data preparation: numbers hidden in text</a:t>
            </a:r>
            <a:endParaRPr lang="en-US" sz="3200" dirty="0"/>
          </a:p>
        </p:txBody>
      </p:sp>
      <p:sp>
        <p:nvSpPr>
          <p:cNvPr id="3" name="c0"/>
          <p:cNvSpPr/>
          <p:nvPr/>
        </p:nvSpPr>
        <p:spPr>
          <a:xfrm>
            <a:off x="548640" y="1371600"/>
            <a:ext cx="5669280" cy="960120"/>
          </a:xfrm>
          <a:prstGeom prst="roundRect">
            <a:avLst>
              <a:gd name="adj" fmla="val 11429"/>
            </a:avLst>
          </a:prstGeom>
          <a:solidFill>
            <a:schemeClr val="bg2"/>
          </a:solidFill>
          <a:ln w="12700">
            <a:solidFill>
              <a:schemeClr val="bg2"/>
            </a:solidFill>
            <a:prstDash val="solid"/>
          </a:ln>
        </p:spPr>
        <p:txBody>
          <a:bodyPr/>
          <a:lstStyle/>
          <a:p>
            <a:endParaRPr lang="en-SG"/>
          </a:p>
        </p:txBody>
      </p:sp>
      <p:sp>
        <p:nvSpPr>
          <p:cNvPr id="4" name="c0-a"/>
          <p:cNvSpPr txBox="1"/>
          <p:nvPr/>
        </p:nvSpPr>
        <p:spPr>
          <a:xfrm>
            <a:off x="777240" y="1508760"/>
            <a:ext cx="2377440" cy="411480"/>
          </a:xfrm>
          <a:prstGeom prst="rect">
            <a:avLst/>
          </a:prstGeom>
          <a:noFill/>
          <a:ln/>
        </p:spPr>
        <p:txBody>
          <a:bodyPr wrap="square" lIns="0" tIns="0" rIns="0" bIns="0" rtlCol="0" anchor="t"/>
          <a:lstStyle/>
          <a:p>
            <a:pPr marL="0" indent="0">
              <a:buNone/>
            </a:pPr>
            <a:r>
              <a:rPr lang="en-US" sz="1800" b="1" dirty="0">
                <a:solidFill>
                  <a:schemeClr val="tx2"/>
                </a:solidFill>
              </a:rPr>
              <a:t>"07 TO 09"</a:t>
            </a:r>
            <a:endParaRPr lang="en-US" sz="1800" dirty="0"/>
          </a:p>
        </p:txBody>
      </p:sp>
      <p:sp>
        <p:nvSpPr>
          <p:cNvPr id="5" name="c0-arr"/>
          <p:cNvSpPr/>
          <p:nvPr/>
        </p:nvSpPr>
        <p:spPr>
          <a:xfrm>
            <a:off x="3200400" y="1572768"/>
            <a:ext cx="457200" cy="274320"/>
          </a:xfrm>
          <a:prstGeom prst="rightArrow">
            <a:avLst/>
          </a:prstGeom>
          <a:solidFill>
            <a:schemeClr val="accent3"/>
          </a:solidFill>
          <a:ln w="12700">
            <a:solidFill>
              <a:schemeClr val="accent3"/>
            </a:solidFill>
            <a:prstDash val="solid"/>
          </a:ln>
        </p:spPr>
        <p:txBody>
          <a:bodyPr/>
          <a:lstStyle/>
          <a:p>
            <a:endParaRPr lang="en-SG"/>
          </a:p>
        </p:txBody>
      </p:sp>
      <p:sp>
        <p:nvSpPr>
          <p:cNvPr id="6" name="c0-b"/>
          <p:cNvSpPr txBox="1"/>
          <p:nvPr/>
        </p:nvSpPr>
        <p:spPr>
          <a:xfrm>
            <a:off x="3840480" y="1463040"/>
            <a:ext cx="2194560" cy="457200"/>
          </a:xfrm>
          <a:prstGeom prst="rect">
            <a:avLst/>
          </a:prstGeom>
          <a:noFill/>
          <a:ln/>
        </p:spPr>
        <p:txBody>
          <a:bodyPr wrap="square" lIns="0" tIns="0" rIns="0" bIns="0" rtlCol="0" anchor="t"/>
          <a:lstStyle/>
          <a:p>
            <a:pPr marL="0" indent="0">
              <a:buNone/>
            </a:pPr>
            <a:r>
              <a:rPr lang="en-US" sz="2400" b="1" dirty="0">
                <a:solidFill>
                  <a:schemeClr val="accent1"/>
                </a:solidFill>
                <a:latin typeface="Cambria" pitchFamily="34" charset="0"/>
                <a:ea typeface="Cambria" pitchFamily="34" charset="-122"/>
                <a:cs typeface="Cambria" pitchFamily="34" charset="-120"/>
              </a:rPr>
              <a:t>8</a:t>
            </a:r>
            <a:endParaRPr lang="en-US" sz="2400" dirty="0"/>
          </a:p>
        </p:txBody>
      </p:sp>
      <p:sp>
        <p:nvSpPr>
          <p:cNvPr id="7" name="c0-l"/>
          <p:cNvSpPr txBox="1"/>
          <p:nvPr/>
        </p:nvSpPr>
        <p:spPr>
          <a:xfrm>
            <a:off x="777240" y="1920240"/>
            <a:ext cx="5303520" cy="320040"/>
          </a:xfrm>
          <a:prstGeom prst="rect">
            <a:avLst/>
          </a:prstGeom>
          <a:noFill/>
          <a:ln/>
        </p:spPr>
        <p:txBody>
          <a:bodyPr wrap="square" lIns="0" tIns="0" rIns="0" bIns="0" rtlCol="0" anchor="t"/>
          <a:lstStyle/>
          <a:p>
            <a:pPr marL="0" indent="0">
              <a:buNone/>
            </a:pPr>
            <a:r>
              <a:rPr lang="en-US" sz="1300" dirty="0">
                <a:solidFill>
                  <a:schemeClr val="accent3"/>
                </a:solidFill>
              </a:rPr>
              <a:t>storey_range → middle floor</a:t>
            </a:r>
            <a:endParaRPr lang="en-US" sz="1300" dirty="0"/>
          </a:p>
        </p:txBody>
      </p:sp>
      <p:sp>
        <p:nvSpPr>
          <p:cNvPr id="8" name="c1"/>
          <p:cNvSpPr/>
          <p:nvPr/>
        </p:nvSpPr>
        <p:spPr>
          <a:xfrm>
            <a:off x="548640" y="2514600"/>
            <a:ext cx="5669280" cy="960120"/>
          </a:xfrm>
          <a:prstGeom prst="roundRect">
            <a:avLst>
              <a:gd name="adj" fmla="val 11429"/>
            </a:avLst>
          </a:prstGeom>
          <a:solidFill>
            <a:schemeClr val="bg2"/>
          </a:solidFill>
          <a:ln w="12700">
            <a:solidFill>
              <a:schemeClr val="bg2"/>
            </a:solidFill>
            <a:prstDash val="solid"/>
          </a:ln>
        </p:spPr>
        <p:txBody>
          <a:bodyPr/>
          <a:lstStyle/>
          <a:p>
            <a:endParaRPr lang="en-SG"/>
          </a:p>
        </p:txBody>
      </p:sp>
      <p:sp>
        <p:nvSpPr>
          <p:cNvPr id="9" name="c1-a"/>
          <p:cNvSpPr txBox="1"/>
          <p:nvPr/>
        </p:nvSpPr>
        <p:spPr>
          <a:xfrm>
            <a:off x="777240" y="2651760"/>
            <a:ext cx="2377440" cy="411480"/>
          </a:xfrm>
          <a:prstGeom prst="rect">
            <a:avLst/>
          </a:prstGeom>
          <a:noFill/>
          <a:ln/>
        </p:spPr>
        <p:txBody>
          <a:bodyPr wrap="square" lIns="0" tIns="0" rIns="0" bIns="0" rtlCol="0" anchor="t"/>
          <a:lstStyle/>
          <a:p>
            <a:pPr marL="0" indent="0">
              <a:buNone/>
            </a:pPr>
            <a:r>
              <a:rPr lang="en-US" sz="1800" b="1" dirty="0">
                <a:solidFill>
                  <a:schemeClr val="tx2"/>
                </a:solidFill>
              </a:rPr>
              <a:t>"61 years 04 months"</a:t>
            </a:r>
            <a:endParaRPr lang="en-US" sz="1800" dirty="0"/>
          </a:p>
        </p:txBody>
      </p:sp>
      <p:sp>
        <p:nvSpPr>
          <p:cNvPr id="10" name="c1-arr"/>
          <p:cNvSpPr/>
          <p:nvPr/>
        </p:nvSpPr>
        <p:spPr>
          <a:xfrm>
            <a:off x="3200400" y="2715768"/>
            <a:ext cx="457200" cy="274320"/>
          </a:xfrm>
          <a:prstGeom prst="rightArrow">
            <a:avLst/>
          </a:prstGeom>
          <a:solidFill>
            <a:schemeClr val="accent3"/>
          </a:solidFill>
          <a:ln w="12700">
            <a:solidFill>
              <a:schemeClr val="accent3"/>
            </a:solidFill>
            <a:prstDash val="solid"/>
          </a:ln>
        </p:spPr>
        <p:txBody>
          <a:bodyPr/>
          <a:lstStyle/>
          <a:p>
            <a:endParaRPr lang="en-SG"/>
          </a:p>
        </p:txBody>
      </p:sp>
      <p:sp>
        <p:nvSpPr>
          <p:cNvPr id="11" name="c1-b"/>
          <p:cNvSpPr txBox="1"/>
          <p:nvPr/>
        </p:nvSpPr>
        <p:spPr>
          <a:xfrm>
            <a:off x="3840480" y="2606040"/>
            <a:ext cx="2194560" cy="457200"/>
          </a:xfrm>
          <a:prstGeom prst="rect">
            <a:avLst/>
          </a:prstGeom>
          <a:noFill/>
          <a:ln/>
        </p:spPr>
        <p:txBody>
          <a:bodyPr wrap="square" lIns="0" tIns="0" rIns="0" bIns="0" rtlCol="0" anchor="t"/>
          <a:lstStyle/>
          <a:p>
            <a:pPr marL="0" indent="0">
              <a:buNone/>
            </a:pPr>
            <a:r>
              <a:rPr lang="en-US" sz="2400" b="1" dirty="0">
                <a:solidFill>
                  <a:schemeClr val="accent1"/>
                </a:solidFill>
                <a:latin typeface="Cambria" pitchFamily="34" charset="0"/>
                <a:ea typeface="Cambria" pitchFamily="34" charset="-122"/>
                <a:cs typeface="Cambria" pitchFamily="34" charset="-120"/>
              </a:rPr>
              <a:t>61.33</a:t>
            </a:r>
            <a:endParaRPr lang="en-US" sz="2400" dirty="0"/>
          </a:p>
        </p:txBody>
      </p:sp>
      <p:sp>
        <p:nvSpPr>
          <p:cNvPr id="12" name="c1-l"/>
          <p:cNvSpPr txBox="1"/>
          <p:nvPr/>
        </p:nvSpPr>
        <p:spPr>
          <a:xfrm>
            <a:off x="777240" y="3063240"/>
            <a:ext cx="5303520" cy="320040"/>
          </a:xfrm>
          <a:prstGeom prst="rect">
            <a:avLst/>
          </a:prstGeom>
          <a:noFill/>
          <a:ln/>
        </p:spPr>
        <p:txBody>
          <a:bodyPr wrap="square" lIns="0" tIns="0" rIns="0" bIns="0" rtlCol="0" anchor="t"/>
          <a:lstStyle/>
          <a:p>
            <a:pPr marL="0" indent="0">
              <a:buNone/>
            </a:pPr>
            <a:r>
              <a:rPr lang="en-US" sz="1300" dirty="0">
                <a:solidFill>
                  <a:schemeClr val="accent3"/>
                </a:solidFill>
              </a:rPr>
              <a:t>remaining_lease → years</a:t>
            </a:r>
            <a:endParaRPr lang="en-US" sz="1300" dirty="0"/>
          </a:p>
        </p:txBody>
      </p:sp>
      <p:sp>
        <p:nvSpPr>
          <p:cNvPr id="13" name="c2"/>
          <p:cNvSpPr/>
          <p:nvPr/>
        </p:nvSpPr>
        <p:spPr>
          <a:xfrm>
            <a:off x="548640" y="3657600"/>
            <a:ext cx="5669280" cy="960120"/>
          </a:xfrm>
          <a:prstGeom prst="roundRect">
            <a:avLst>
              <a:gd name="adj" fmla="val 11429"/>
            </a:avLst>
          </a:prstGeom>
          <a:solidFill>
            <a:schemeClr val="bg2"/>
          </a:solidFill>
          <a:ln w="12700">
            <a:solidFill>
              <a:schemeClr val="bg2"/>
            </a:solidFill>
            <a:prstDash val="solid"/>
          </a:ln>
        </p:spPr>
        <p:txBody>
          <a:bodyPr/>
          <a:lstStyle/>
          <a:p>
            <a:endParaRPr lang="en-SG"/>
          </a:p>
        </p:txBody>
      </p:sp>
      <p:sp>
        <p:nvSpPr>
          <p:cNvPr id="14" name="c2-a"/>
          <p:cNvSpPr txBox="1"/>
          <p:nvPr/>
        </p:nvSpPr>
        <p:spPr>
          <a:xfrm>
            <a:off x="777240" y="3794760"/>
            <a:ext cx="2377440" cy="411480"/>
          </a:xfrm>
          <a:prstGeom prst="rect">
            <a:avLst/>
          </a:prstGeom>
          <a:noFill/>
          <a:ln/>
        </p:spPr>
        <p:txBody>
          <a:bodyPr wrap="square" lIns="0" tIns="0" rIns="0" bIns="0" rtlCol="0" anchor="t"/>
          <a:lstStyle/>
          <a:p>
            <a:pPr marL="0" indent="0">
              <a:buNone/>
            </a:pPr>
            <a:r>
              <a:rPr lang="en-US" sz="1800" b="1" dirty="0">
                <a:solidFill>
                  <a:schemeClr val="tx2"/>
                </a:solidFill>
              </a:rPr>
              <a:t>"4 ROOM"</a:t>
            </a:r>
            <a:endParaRPr lang="en-US" sz="1800" dirty="0"/>
          </a:p>
        </p:txBody>
      </p:sp>
      <p:sp>
        <p:nvSpPr>
          <p:cNvPr id="15" name="c2-arr"/>
          <p:cNvSpPr/>
          <p:nvPr/>
        </p:nvSpPr>
        <p:spPr>
          <a:xfrm>
            <a:off x="3200400" y="3858768"/>
            <a:ext cx="457200" cy="274320"/>
          </a:xfrm>
          <a:prstGeom prst="rightArrow">
            <a:avLst/>
          </a:prstGeom>
          <a:solidFill>
            <a:schemeClr val="accent3"/>
          </a:solidFill>
          <a:ln w="12700">
            <a:solidFill>
              <a:schemeClr val="accent3"/>
            </a:solidFill>
            <a:prstDash val="solid"/>
          </a:ln>
        </p:spPr>
        <p:txBody>
          <a:bodyPr/>
          <a:lstStyle/>
          <a:p>
            <a:endParaRPr lang="en-SG"/>
          </a:p>
        </p:txBody>
      </p:sp>
      <p:sp>
        <p:nvSpPr>
          <p:cNvPr id="16" name="c2-b"/>
          <p:cNvSpPr txBox="1"/>
          <p:nvPr/>
        </p:nvSpPr>
        <p:spPr>
          <a:xfrm>
            <a:off x="3840480" y="3749040"/>
            <a:ext cx="2194560" cy="457200"/>
          </a:xfrm>
          <a:prstGeom prst="rect">
            <a:avLst/>
          </a:prstGeom>
          <a:noFill/>
          <a:ln/>
        </p:spPr>
        <p:txBody>
          <a:bodyPr wrap="square" lIns="0" tIns="0" rIns="0" bIns="0" rtlCol="0" anchor="t"/>
          <a:lstStyle/>
          <a:p>
            <a:pPr marL="0" indent="0">
              <a:buNone/>
            </a:pPr>
            <a:r>
              <a:rPr lang="en-US" sz="2400" b="1" dirty="0">
                <a:solidFill>
                  <a:schemeClr val="accent1"/>
                </a:solidFill>
                <a:latin typeface="Cambria" pitchFamily="34" charset="0"/>
                <a:ea typeface="Cambria" pitchFamily="34" charset="-122"/>
                <a:cs typeface="Cambria" pitchFamily="34" charset="-120"/>
              </a:rPr>
              <a:t>4</a:t>
            </a:r>
            <a:endParaRPr lang="en-US" sz="2400" dirty="0"/>
          </a:p>
        </p:txBody>
      </p:sp>
      <p:sp>
        <p:nvSpPr>
          <p:cNvPr id="17" name="c2-l"/>
          <p:cNvSpPr txBox="1"/>
          <p:nvPr/>
        </p:nvSpPr>
        <p:spPr>
          <a:xfrm>
            <a:off x="777240" y="4206240"/>
            <a:ext cx="5303520" cy="320040"/>
          </a:xfrm>
          <a:prstGeom prst="rect">
            <a:avLst/>
          </a:prstGeom>
          <a:noFill/>
          <a:ln/>
        </p:spPr>
        <p:txBody>
          <a:bodyPr wrap="square" lIns="0" tIns="0" rIns="0" bIns="0" rtlCol="0" anchor="t"/>
          <a:lstStyle/>
          <a:p>
            <a:pPr marL="0" indent="0">
              <a:buNone/>
            </a:pPr>
            <a:r>
              <a:rPr lang="en-US" sz="1300" dirty="0">
                <a:solidFill>
                  <a:schemeClr val="accent3"/>
                </a:solidFill>
              </a:rPr>
              <a:t>flat_type → number of rooms</a:t>
            </a:r>
            <a:endParaRPr lang="en-US" sz="1300" dirty="0"/>
          </a:p>
        </p:txBody>
      </p:sp>
      <p:sp>
        <p:nvSpPr>
          <p:cNvPr id="18" name="dq0-h"/>
          <p:cNvSpPr txBox="1"/>
          <p:nvPr/>
        </p:nvSpPr>
        <p:spPr>
          <a:xfrm>
            <a:off x="6675120" y="1371600"/>
            <a:ext cx="4937760" cy="320040"/>
          </a:xfrm>
          <a:prstGeom prst="rect">
            <a:avLst/>
          </a:prstGeom>
          <a:noFill/>
          <a:ln/>
        </p:spPr>
        <p:txBody>
          <a:bodyPr wrap="square" lIns="0" tIns="0" rIns="0" bIns="0" rtlCol="0" anchor="t"/>
          <a:lstStyle/>
          <a:p>
            <a:pPr marL="0" indent="0">
              <a:buNone/>
            </a:pPr>
            <a:r>
              <a:rPr lang="en-US" sz="1600" b="1" dirty="0">
                <a:solidFill>
                  <a:schemeClr val="tx2"/>
                </a:solidFill>
              </a:rPr>
              <a:t>No blank values</a:t>
            </a:r>
            <a:endParaRPr lang="en-US" sz="1600" dirty="0"/>
          </a:p>
        </p:txBody>
      </p:sp>
      <p:sp>
        <p:nvSpPr>
          <p:cNvPr id="19" name="dq0-d"/>
          <p:cNvSpPr txBox="1"/>
          <p:nvPr/>
        </p:nvSpPr>
        <p:spPr>
          <a:xfrm>
            <a:off x="6675120" y="1700784"/>
            <a:ext cx="4937760" cy="502920"/>
          </a:xfrm>
          <a:prstGeom prst="rect">
            <a:avLst/>
          </a:prstGeom>
          <a:noFill/>
          <a:ln/>
        </p:spPr>
        <p:txBody>
          <a:bodyPr wrap="square" lIns="0" tIns="0" rIns="0" bIns="0" rtlCol="0" anchor="t"/>
          <a:lstStyle/>
          <a:p>
            <a:pPr marL="0" indent="0">
              <a:buNone/>
            </a:pPr>
            <a:r>
              <a:rPr lang="en-US" sz="1400" dirty="0">
                <a:solidFill>
                  <a:schemeClr val="tx1"/>
                </a:solidFill>
              </a:rPr>
              <a:t>Pipeline still fills blanks, so it won't break on new data.</a:t>
            </a:r>
            <a:endParaRPr lang="en-US" sz="1400" dirty="0"/>
          </a:p>
        </p:txBody>
      </p:sp>
      <p:sp>
        <p:nvSpPr>
          <p:cNvPr id="20" name="dq1-h"/>
          <p:cNvSpPr txBox="1"/>
          <p:nvPr/>
        </p:nvSpPr>
        <p:spPr>
          <a:xfrm>
            <a:off x="6675120" y="2267712"/>
            <a:ext cx="4937760" cy="320040"/>
          </a:xfrm>
          <a:prstGeom prst="rect">
            <a:avLst/>
          </a:prstGeom>
          <a:noFill/>
          <a:ln/>
        </p:spPr>
        <p:txBody>
          <a:bodyPr wrap="square" lIns="0" tIns="0" rIns="0" bIns="0" rtlCol="0" anchor="t"/>
          <a:lstStyle/>
          <a:p>
            <a:pPr marL="0" indent="0">
              <a:buNone/>
            </a:pPr>
            <a:r>
              <a:rPr lang="en-US" sz="1600" b="1" dirty="0">
                <a:solidFill>
                  <a:schemeClr val="tx2"/>
                </a:solidFill>
              </a:rPr>
              <a:t>22 duplicates kept</a:t>
            </a:r>
            <a:endParaRPr lang="en-US" sz="1600" dirty="0"/>
          </a:p>
        </p:txBody>
      </p:sp>
      <p:sp>
        <p:nvSpPr>
          <p:cNvPr id="21" name="dq1-d"/>
          <p:cNvSpPr txBox="1"/>
          <p:nvPr/>
        </p:nvSpPr>
        <p:spPr>
          <a:xfrm>
            <a:off x="6675120" y="2596896"/>
            <a:ext cx="4937760" cy="502920"/>
          </a:xfrm>
          <a:prstGeom prst="rect">
            <a:avLst/>
          </a:prstGeom>
          <a:noFill/>
          <a:ln/>
        </p:spPr>
        <p:txBody>
          <a:bodyPr wrap="square" lIns="0" tIns="0" rIns="0" bIns="0" rtlCol="0" anchor="t"/>
          <a:lstStyle/>
          <a:p>
            <a:pPr marL="0" indent="0">
              <a:buNone/>
            </a:pPr>
            <a:r>
              <a:rPr lang="en-US" sz="1400" dirty="0">
                <a:solidFill>
                  <a:schemeClr val="tx1"/>
                </a:solidFill>
              </a:rPr>
              <a:t>Likely two flats in the same block and floor range sold for the same price.</a:t>
            </a:r>
            <a:endParaRPr lang="en-US" sz="1400" dirty="0"/>
          </a:p>
        </p:txBody>
      </p:sp>
      <p:sp>
        <p:nvSpPr>
          <p:cNvPr id="22" name="dq2-h"/>
          <p:cNvSpPr txBox="1"/>
          <p:nvPr/>
        </p:nvSpPr>
        <p:spPr>
          <a:xfrm>
            <a:off x="6675120" y="3163824"/>
            <a:ext cx="4937760" cy="320040"/>
          </a:xfrm>
          <a:prstGeom prst="rect">
            <a:avLst/>
          </a:prstGeom>
          <a:noFill/>
          <a:ln/>
        </p:spPr>
        <p:txBody>
          <a:bodyPr wrap="square" lIns="0" tIns="0" rIns="0" bIns="0" rtlCol="0" anchor="t"/>
          <a:lstStyle/>
          <a:p>
            <a:pPr marL="0" indent="0">
              <a:buNone/>
            </a:pPr>
            <a:r>
              <a:rPr lang="en-US" sz="1600" b="1" dirty="0">
                <a:solidFill>
                  <a:schemeClr val="tx2"/>
                </a:solidFill>
              </a:rPr>
              <a:t>1,086 price outliers kept</a:t>
            </a:r>
            <a:endParaRPr lang="en-US" sz="1600" dirty="0"/>
          </a:p>
        </p:txBody>
      </p:sp>
      <p:sp>
        <p:nvSpPr>
          <p:cNvPr id="23" name="dq2-d"/>
          <p:cNvSpPr txBox="1"/>
          <p:nvPr/>
        </p:nvSpPr>
        <p:spPr>
          <a:xfrm>
            <a:off x="6675120" y="3493008"/>
            <a:ext cx="4937760" cy="502920"/>
          </a:xfrm>
          <a:prstGeom prst="rect">
            <a:avLst/>
          </a:prstGeom>
          <a:noFill/>
          <a:ln/>
        </p:spPr>
        <p:txBody>
          <a:bodyPr wrap="square" lIns="0" tIns="0" rIns="0" bIns="0" rtlCol="0" anchor="t"/>
          <a:lstStyle/>
          <a:p>
            <a:pPr marL="0" indent="0">
              <a:buNone/>
            </a:pPr>
            <a:r>
              <a:rPr lang="en-US" sz="1400" dirty="0">
                <a:solidFill>
                  <a:schemeClr val="tx1"/>
                </a:solidFill>
              </a:rPr>
              <a:t>Real million-dollar flats in central towns, not errors.</a:t>
            </a:r>
            <a:endParaRPr lang="en-US" sz="1400" dirty="0"/>
          </a:p>
        </p:txBody>
      </p:sp>
      <p:sp>
        <p:nvSpPr>
          <p:cNvPr id="24" name="dq3-h"/>
          <p:cNvSpPr txBox="1"/>
          <p:nvPr/>
        </p:nvSpPr>
        <p:spPr>
          <a:xfrm>
            <a:off x="6675120" y="4059936"/>
            <a:ext cx="4937760" cy="320040"/>
          </a:xfrm>
          <a:prstGeom prst="rect">
            <a:avLst/>
          </a:prstGeom>
          <a:noFill/>
          <a:ln/>
        </p:spPr>
        <p:txBody>
          <a:bodyPr wrap="square" lIns="0" tIns="0" rIns="0" bIns="0" rtlCol="0" anchor="t"/>
          <a:lstStyle/>
          <a:p>
            <a:pPr marL="0" indent="0">
              <a:buNone/>
            </a:pPr>
            <a:r>
              <a:rPr lang="en-US" sz="1600" b="1" dirty="0">
                <a:solidFill>
                  <a:schemeClr val="tx2"/>
                </a:solidFill>
              </a:rPr>
              <a:t>Rare flat models grouped</a:t>
            </a:r>
            <a:endParaRPr lang="en-US" sz="1600" dirty="0"/>
          </a:p>
        </p:txBody>
      </p:sp>
      <p:sp>
        <p:nvSpPr>
          <p:cNvPr id="25" name="dq3-d"/>
          <p:cNvSpPr txBox="1"/>
          <p:nvPr/>
        </p:nvSpPr>
        <p:spPr>
          <a:xfrm>
            <a:off x="6675120" y="4389120"/>
            <a:ext cx="4937760" cy="502920"/>
          </a:xfrm>
          <a:prstGeom prst="rect">
            <a:avLst/>
          </a:prstGeom>
          <a:noFill/>
          <a:ln/>
        </p:spPr>
        <p:txBody>
          <a:bodyPr wrap="square" lIns="0" tIns="0" rIns="0" bIns="0" rtlCol="0" anchor="t"/>
          <a:lstStyle/>
          <a:p>
            <a:pPr marL="0" indent="0">
              <a:buNone/>
            </a:pPr>
            <a:r>
              <a:rPr lang="en-US" sz="1400" dirty="0">
                <a:solidFill>
                  <a:schemeClr val="tx1"/>
                </a:solidFill>
              </a:rPr>
              <a:t>Types with under 50 sales (e.g. Terrace) become "infrequent".</a:t>
            </a:r>
            <a:endParaRPr lang="en-US" sz="1400" dirty="0"/>
          </a:p>
        </p:txBody>
      </p:sp>
      <p:sp>
        <p:nvSpPr>
          <p:cNvPr id="26" name="dq4-h"/>
          <p:cNvSpPr txBox="1"/>
          <p:nvPr/>
        </p:nvSpPr>
        <p:spPr>
          <a:xfrm>
            <a:off x="6675120" y="4956048"/>
            <a:ext cx="4937760" cy="320040"/>
          </a:xfrm>
          <a:prstGeom prst="rect">
            <a:avLst/>
          </a:prstGeom>
          <a:noFill/>
          <a:ln/>
        </p:spPr>
        <p:txBody>
          <a:bodyPr wrap="square" lIns="0" tIns="0" rIns="0" bIns="0" rtlCol="0" anchor="t"/>
          <a:lstStyle/>
          <a:p>
            <a:pPr marL="0" indent="0">
              <a:buNone/>
            </a:pPr>
            <a:r>
              <a:rPr lang="en-US" sz="1600" b="1" dirty="0">
                <a:solidFill>
                  <a:schemeClr val="tx2"/>
                </a:solidFill>
              </a:rPr>
              <a:t>Log of price</a:t>
            </a:r>
            <a:endParaRPr lang="en-US" sz="1600" dirty="0"/>
          </a:p>
        </p:txBody>
      </p:sp>
      <p:sp>
        <p:nvSpPr>
          <p:cNvPr id="27" name="dq4-d"/>
          <p:cNvSpPr txBox="1"/>
          <p:nvPr/>
        </p:nvSpPr>
        <p:spPr>
          <a:xfrm>
            <a:off x="6675120" y="5285232"/>
            <a:ext cx="4937760" cy="502920"/>
          </a:xfrm>
          <a:prstGeom prst="rect">
            <a:avLst/>
          </a:prstGeom>
          <a:noFill/>
          <a:ln/>
        </p:spPr>
        <p:txBody>
          <a:bodyPr wrap="square" lIns="0" tIns="0" rIns="0" bIns="0" rtlCol="0" anchor="t"/>
          <a:lstStyle/>
          <a:p>
            <a:pPr marL="0" indent="0">
              <a:buNone/>
            </a:pPr>
            <a:r>
              <a:rPr lang="en-US" sz="1400" dirty="0">
                <a:solidFill>
                  <a:schemeClr val="tx1"/>
                </a:solidFill>
              </a:rPr>
              <a:t>Skew drops from 0.92 to 0.03; models learn % effects.</a:t>
            </a:r>
            <a:endParaRPr lang="en-US" sz="1400" dirty="0"/>
          </a:p>
        </p:txBody>
      </p:sp>
      <p:sp>
        <p:nvSpPr>
          <p:cNvPr id="28" name="c-note"/>
          <p:cNvSpPr txBox="1"/>
          <p:nvPr/>
        </p:nvSpPr>
        <p:spPr>
          <a:xfrm>
            <a:off x="548640" y="4892040"/>
            <a:ext cx="5669280" cy="548640"/>
          </a:xfrm>
          <a:prstGeom prst="rect">
            <a:avLst/>
          </a:prstGeom>
          <a:noFill/>
          <a:ln/>
        </p:spPr>
        <p:txBody>
          <a:bodyPr wrap="square" lIns="0" tIns="0" rIns="0" bIns="0" rtlCol="0" anchor="t"/>
          <a:lstStyle/>
          <a:p>
            <a:pPr marL="0" indent="0">
              <a:buNone/>
            </a:pPr>
            <a:r>
              <a:rPr lang="en-US" sz="1300" dirty="0">
                <a:solidFill>
                  <a:schemeClr val="accent3"/>
                </a:solidFill>
              </a:rPr>
              <a:t>Converting text row by row learns nothing from the data, so it is safe before the split.</a:t>
            </a:r>
            <a:endParaRPr lang="en-US" sz="1300" dirty="0"/>
          </a:p>
        </p:txBody>
      </p:sp>
      <p:sp>
        <p:nvSpPr>
          <p:cNvPr id="2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Size is the biggest driver of price</a:t>
            </a:r>
            <a:endParaRPr lang="en-US" sz="3200" dirty="0"/>
          </a:p>
        </p:txBody>
      </p:sp>
      <p:graphicFrame>
        <p:nvGraphicFramePr>
          <p:cNvPr id="3" name="e1-chart"/>
          <p:cNvGraphicFramePr/>
          <p:nvPr/>
        </p:nvGraphicFramePr>
        <p:xfrm>
          <a:off x="548640" y="1325880"/>
          <a:ext cx="676656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e1-s1"/>
          <p:cNvSpPr/>
          <p:nvPr/>
        </p:nvSpPr>
        <p:spPr>
          <a:xfrm>
            <a:off x="7680960" y="1371600"/>
            <a:ext cx="3931920" cy="1417320"/>
          </a:xfrm>
          <a:prstGeom prst="roundRect">
            <a:avLst>
              <a:gd name="adj" fmla="val 7742"/>
            </a:avLst>
          </a:prstGeom>
          <a:solidFill>
            <a:schemeClr val="bg2"/>
          </a:solidFill>
          <a:ln w="12700">
            <a:solidFill>
              <a:schemeClr val="bg2"/>
            </a:solidFill>
            <a:prstDash val="solid"/>
          </a:ln>
        </p:spPr>
        <p:txBody>
          <a:bodyPr/>
          <a:lstStyle/>
          <a:p>
            <a:endParaRPr lang="en-SG"/>
          </a:p>
        </p:txBody>
      </p:sp>
      <p:sp>
        <p:nvSpPr>
          <p:cNvPr id="5" name="e1-s1-value"/>
          <p:cNvSpPr txBox="1"/>
          <p:nvPr/>
        </p:nvSpPr>
        <p:spPr>
          <a:xfrm>
            <a:off x="7909560" y="1463040"/>
            <a:ext cx="3566160" cy="73152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η² = 0.53</a:t>
            </a:r>
            <a:endParaRPr lang="en-US" sz="3000" dirty="0"/>
          </a:p>
        </p:txBody>
      </p:sp>
      <p:sp>
        <p:nvSpPr>
          <p:cNvPr id="6" name="e1-s1-label"/>
          <p:cNvSpPr txBox="1"/>
          <p:nvPr/>
        </p:nvSpPr>
        <p:spPr>
          <a:xfrm>
            <a:off x="7909560" y="2194560"/>
            <a:ext cx="3566160" cy="548640"/>
          </a:xfrm>
          <a:prstGeom prst="rect">
            <a:avLst/>
          </a:prstGeom>
          <a:noFill/>
          <a:ln/>
        </p:spPr>
        <p:txBody>
          <a:bodyPr wrap="square" lIns="0" tIns="0" rIns="0" bIns="0" rtlCol="0" anchor="t"/>
          <a:lstStyle/>
          <a:p>
            <a:pPr marL="0" indent="0">
              <a:buNone/>
            </a:pPr>
            <a:r>
              <a:rPr lang="en-US" sz="1400" dirty="0">
                <a:solidFill>
                  <a:schemeClr val="tx1"/>
                </a:solidFill>
              </a:rPr>
              <a:t>flat type explains 53% of the price variation (ANOVA)</a:t>
            </a:r>
            <a:endParaRPr lang="en-US" sz="1400" dirty="0"/>
          </a:p>
        </p:txBody>
      </p:sp>
      <p:sp>
        <p:nvSpPr>
          <p:cNvPr id="7" name="e1-s2"/>
          <p:cNvSpPr/>
          <p:nvPr/>
        </p:nvSpPr>
        <p:spPr>
          <a:xfrm>
            <a:off x="7680960" y="2971800"/>
            <a:ext cx="3931920" cy="1417320"/>
          </a:xfrm>
          <a:prstGeom prst="roundRect">
            <a:avLst>
              <a:gd name="adj" fmla="val 7742"/>
            </a:avLst>
          </a:prstGeom>
          <a:solidFill>
            <a:schemeClr val="bg2"/>
          </a:solidFill>
          <a:ln w="12700">
            <a:solidFill>
              <a:schemeClr val="bg2"/>
            </a:solidFill>
            <a:prstDash val="solid"/>
          </a:ln>
        </p:spPr>
        <p:txBody>
          <a:bodyPr/>
          <a:lstStyle/>
          <a:p>
            <a:endParaRPr lang="en-SG"/>
          </a:p>
        </p:txBody>
      </p:sp>
      <p:sp>
        <p:nvSpPr>
          <p:cNvPr id="8" name="e1-s2-value"/>
          <p:cNvSpPr txBox="1"/>
          <p:nvPr/>
        </p:nvSpPr>
        <p:spPr>
          <a:xfrm>
            <a:off x="7909560" y="3063240"/>
            <a:ext cx="3566160" cy="73152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ρ = 0.69</a:t>
            </a:r>
            <a:endParaRPr lang="en-US" sz="3000" dirty="0"/>
          </a:p>
        </p:txBody>
      </p:sp>
      <p:sp>
        <p:nvSpPr>
          <p:cNvPr id="9" name="e1-s2-label"/>
          <p:cNvSpPr txBox="1"/>
          <p:nvPr/>
        </p:nvSpPr>
        <p:spPr>
          <a:xfrm>
            <a:off x="7909560" y="3794760"/>
            <a:ext cx="3566160" cy="548640"/>
          </a:xfrm>
          <a:prstGeom prst="rect">
            <a:avLst/>
          </a:prstGeom>
          <a:noFill/>
          <a:ln/>
        </p:spPr>
        <p:txBody>
          <a:bodyPr wrap="square" lIns="0" tIns="0" rIns="0" bIns="0" rtlCol="0" anchor="t"/>
          <a:lstStyle/>
          <a:p>
            <a:pPr marL="0" indent="0">
              <a:buNone/>
            </a:pPr>
            <a:r>
              <a:rPr lang="en-US" sz="1400" dirty="0">
                <a:solidFill>
                  <a:schemeClr val="tx1"/>
                </a:solidFill>
              </a:rPr>
              <a:t>correlation of floor area with price (Spearman)</a:t>
            </a:r>
            <a:endParaRPr lang="en-US" sz="1400" dirty="0"/>
          </a:p>
        </p:txBody>
      </p:sp>
      <p:sp>
        <p:nvSpPr>
          <p:cNvPr id="10" name="e1-s3"/>
          <p:cNvSpPr/>
          <p:nvPr/>
        </p:nvSpPr>
        <p:spPr>
          <a:xfrm>
            <a:off x="7680960" y="4572000"/>
            <a:ext cx="3931920" cy="1417320"/>
          </a:xfrm>
          <a:prstGeom prst="roundRect">
            <a:avLst>
              <a:gd name="adj" fmla="val 7742"/>
            </a:avLst>
          </a:prstGeom>
          <a:solidFill>
            <a:schemeClr val="bg2"/>
          </a:solidFill>
          <a:ln w="12700">
            <a:solidFill>
              <a:schemeClr val="bg2"/>
            </a:solidFill>
            <a:prstDash val="solid"/>
          </a:ln>
        </p:spPr>
        <p:txBody>
          <a:bodyPr/>
          <a:lstStyle/>
          <a:p>
            <a:endParaRPr lang="en-SG"/>
          </a:p>
        </p:txBody>
      </p:sp>
      <p:sp>
        <p:nvSpPr>
          <p:cNvPr id="11" name="e1-s3-value"/>
          <p:cNvSpPr txBox="1"/>
          <p:nvPr/>
        </p:nvSpPr>
        <p:spPr>
          <a:xfrm>
            <a:off x="7909560" y="4663440"/>
            <a:ext cx="3566160" cy="73152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Flat</a:t>
            </a:r>
            <a:endParaRPr lang="en-US" sz="3000" dirty="0"/>
          </a:p>
        </p:txBody>
      </p:sp>
      <p:sp>
        <p:nvSpPr>
          <p:cNvPr id="12" name="e1-s3-label"/>
          <p:cNvSpPr txBox="1"/>
          <p:nvPr/>
        </p:nvSpPr>
        <p:spPr>
          <a:xfrm>
            <a:off x="7909560" y="5394960"/>
            <a:ext cx="3566160" cy="548640"/>
          </a:xfrm>
          <a:prstGeom prst="rect">
            <a:avLst/>
          </a:prstGeom>
          <a:noFill/>
          <a:ln/>
        </p:spPr>
        <p:txBody>
          <a:bodyPr wrap="square" lIns="0" tIns="0" rIns="0" bIns="0" rtlCol="0" anchor="t"/>
          <a:lstStyle/>
          <a:p>
            <a:pPr marL="0" indent="0">
              <a:buNone/>
            </a:pPr>
            <a:r>
              <a:rPr lang="en-US" sz="1400" dirty="0">
                <a:solidFill>
                  <a:schemeClr val="tx1"/>
                </a:solidFill>
              </a:rPr>
              <a:t>prices changed only −1% to +5% over the 22 months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Location, floor and lease also matter</a:t>
            </a:r>
            <a:endParaRPr lang="en-US" sz="3200" dirty="0"/>
          </a:p>
        </p:txBody>
      </p:sp>
      <p:pic>
        <p:nvPicPr>
          <p:cNvPr id="3" name="e2-img" descr="/home/claude/hdb-resale-ml/figures/04_price_vs_size_floor_lease.png"/>
          <p:cNvPicPr>
            <a:picLocks noChangeAspect="1"/>
          </p:cNvPicPr>
          <p:nvPr/>
        </p:nvPicPr>
        <p:blipFill>
          <a:blip r:embed="rId3"/>
          <a:stretch>
            <a:fillRect/>
          </a:stretch>
        </p:blipFill>
        <p:spPr>
          <a:xfrm>
            <a:off x="548640" y="1280160"/>
            <a:ext cx="11064240" cy="2859298"/>
          </a:xfrm>
          <a:prstGeom prst="rect">
            <a:avLst/>
          </a:prstGeom>
        </p:spPr>
      </p:pic>
      <p:sp>
        <p:nvSpPr>
          <p:cNvPr id="4" name="e2-c0"/>
          <p:cNvSpPr/>
          <p:nvPr/>
        </p:nvSpPr>
        <p:spPr>
          <a:xfrm>
            <a:off x="548640" y="4434840"/>
            <a:ext cx="3566160" cy="1691640"/>
          </a:xfrm>
          <a:prstGeom prst="roundRect">
            <a:avLst>
              <a:gd name="adj" fmla="val 6486"/>
            </a:avLst>
          </a:prstGeom>
          <a:solidFill>
            <a:schemeClr val="bg2"/>
          </a:solidFill>
          <a:ln w="12700">
            <a:solidFill>
              <a:schemeClr val="bg2"/>
            </a:solidFill>
            <a:prstDash val="solid"/>
          </a:ln>
        </p:spPr>
        <p:txBody>
          <a:bodyPr/>
          <a:lstStyle/>
          <a:p>
            <a:endParaRPr lang="en-SG"/>
          </a:p>
        </p:txBody>
      </p:sp>
      <p:sp>
        <p:nvSpPr>
          <p:cNvPr id="5" name="e2-c0-circle"/>
          <p:cNvSpPr/>
          <p:nvPr/>
        </p:nvSpPr>
        <p:spPr>
          <a:xfrm>
            <a:off x="731520" y="4572000"/>
            <a:ext cx="502920" cy="502920"/>
          </a:xfrm>
          <a:prstGeom prst="ellipse">
            <a:avLst/>
          </a:prstGeom>
          <a:solidFill>
            <a:schemeClr val="tx2"/>
          </a:solidFill>
          <a:ln w="12700">
            <a:solidFill>
              <a:schemeClr val="tx2"/>
            </a:solidFill>
            <a:prstDash val="solid"/>
          </a:ln>
        </p:spPr>
        <p:txBody>
          <a:bodyPr/>
          <a:lstStyle/>
          <a:p>
            <a:endParaRPr lang="en-SG"/>
          </a:p>
        </p:txBody>
      </p:sp>
      <p:pic>
        <p:nvPicPr>
          <p:cNvPr id="6" name="e2-c0-icon" descr="preencoded.png"/>
          <p:cNvPicPr>
            <a:picLocks noChangeAspect="1"/>
          </p:cNvPicPr>
          <p:nvPr/>
        </p:nvPicPr>
        <p:blipFill>
          <a:blip r:embed="rId4"/>
          <a:stretch>
            <a:fillRect/>
          </a:stretch>
        </p:blipFill>
        <p:spPr>
          <a:xfrm>
            <a:off x="862279" y="4702759"/>
            <a:ext cx="241402" cy="241402"/>
          </a:xfrm>
          <a:prstGeom prst="rect">
            <a:avLst/>
          </a:prstGeom>
        </p:spPr>
      </p:pic>
      <p:sp>
        <p:nvSpPr>
          <p:cNvPr id="7" name="e2-c0-h"/>
          <p:cNvSpPr txBox="1"/>
          <p:nvPr/>
        </p:nvSpPr>
        <p:spPr>
          <a:xfrm>
            <a:off x="1371600" y="4617720"/>
            <a:ext cx="2560320" cy="365760"/>
          </a:xfrm>
          <a:prstGeom prst="rect">
            <a:avLst/>
          </a:prstGeom>
          <a:noFill/>
          <a:ln/>
        </p:spPr>
        <p:txBody>
          <a:bodyPr wrap="square" lIns="0" tIns="0" rIns="0" bIns="0" rtlCol="0" anchor="t"/>
          <a:lstStyle/>
          <a:p>
            <a:pPr marL="0" indent="0">
              <a:buNone/>
            </a:pPr>
            <a:r>
              <a:rPr lang="en-US" sz="1700" b="1" dirty="0">
                <a:solidFill>
                  <a:schemeClr val="tx2"/>
                </a:solidFill>
              </a:rPr>
              <a:t>Town</a:t>
            </a:r>
            <a:endParaRPr lang="en-US" sz="1700" dirty="0"/>
          </a:p>
        </p:txBody>
      </p:sp>
      <p:sp>
        <p:nvSpPr>
          <p:cNvPr id="8" name="e2-c0-d"/>
          <p:cNvSpPr txBox="1"/>
          <p:nvPr/>
        </p:nvSpPr>
        <p:spPr>
          <a:xfrm>
            <a:off x="731520" y="5166360"/>
            <a:ext cx="3200400" cy="914400"/>
          </a:xfrm>
          <a:prstGeom prst="rect">
            <a:avLst/>
          </a:prstGeom>
          <a:noFill/>
          <a:ln/>
        </p:spPr>
        <p:txBody>
          <a:bodyPr wrap="square" lIns="0" tIns="0" rIns="0" bIns="0" rtlCol="0" anchor="t"/>
          <a:lstStyle/>
          <a:p>
            <a:pPr marL="0" indent="0">
              <a:buNone/>
            </a:pPr>
            <a:r>
              <a:rPr lang="en-US" sz="1400" dirty="0">
                <a:solidFill>
                  <a:schemeClr val="tx1"/>
                </a:solidFill>
              </a:rPr>
              <a:t>Bukit Timah S$974k vs Ang Mo Kio S$510k median, but town medians mix flat sizes and ages.</a:t>
            </a:r>
            <a:endParaRPr lang="en-US" sz="1400" dirty="0"/>
          </a:p>
        </p:txBody>
      </p:sp>
      <p:sp>
        <p:nvSpPr>
          <p:cNvPr id="9" name="e2-c1"/>
          <p:cNvSpPr/>
          <p:nvPr/>
        </p:nvSpPr>
        <p:spPr>
          <a:xfrm>
            <a:off x="4297680" y="4434840"/>
            <a:ext cx="3566160" cy="1691640"/>
          </a:xfrm>
          <a:prstGeom prst="roundRect">
            <a:avLst>
              <a:gd name="adj" fmla="val 6486"/>
            </a:avLst>
          </a:prstGeom>
          <a:solidFill>
            <a:schemeClr val="bg2"/>
          </a:solidFill>
          <a:ln w="12700">
            <a:solidFill>
              <a:schemeClr val="bg2"/>
            </a:solidFill>
            <a:prstDash val="solid"/>
          </a:ln>
        </p:spPr>
        <p:txBody>
          <a:bodyPr/>
          <a:lstStyle/>
          <a:p>
            <a:endParaRPr lang="en-SG"/>
          </a:p>
        </p:txBody>
      </p:sp>
      <p:sp>
        <p:nvSpPr>
          <p:cNvPr id="10" name="e2-c1-circle"/>
          <p:cNvSpPr/>
          <p:nvPr/>
        </p:nvSpPr>
        <p:spPr>
          <a:xfrm>
            <a:off x="4480560" y="4572000"/>
            <a:ext cx="502920" cy="502920"/>
          </a:xfrm>
          <a:prstGeom prst="ellipse">
            <a:avLst/>
          </a:prstGeom>
          <a:solidFill>
            <a:schemeClr val="tx2"/>
          </a:solidFill>
          <a:ln w="12700">
            <a:solidFill>
              <a:schemeClr val="tx2"/>
            </a:solidFill>
            <a:prstDash val="solid"/>
          </a:ln>
        </p:spPr>
        <p:txBody>
          <a:bodyPr/>
          <a:lstStyle/>
          <a:p>
            <a:endParaRPr lang="en-SG"/>
          </a:p>
        </p:txBody>
      </p:sp>
      <p:pic>
        <p:nvPicPr>
          <p:cNvPr id="11" name="e2-c1-icon" descr="preencoded.png"/>
          <p:cNvPicPr>
            <a:picLocks noChangeAspect="1"/>
          </p:cNvPicPr>
          <p:nvPr/>
        </p:nvPicPr>
        <p:blipFill>
          <a:blip r:embed="rId5"/>
          <a:stretch>
            <a:fillRect/>
          </a:stretch>
        </p:blipFill>
        <p:spPr>
          <a:xfrm>
            <a:off x="4611319" y="4702759"/>
            <a:ext cx="241402" cy="241402"/>
          </a:xfrm>
          <a:prstGeom prst="rect">
            <a:avLst/>
          </a:prstGeom>
        </p:spPr>
      </p:pic>
      <p:sp>
        <p:nvSpPr>
          <p:cNvPr id="12" name="e2-c1-h"/>
          <p:cNvSpPr txBox="1"/>
          <p:nvPr/>
        </p:nvSpPr>
        <p:spPr>
          <a:xfrm>
            <a:off x="5120640" y="4617720"/>
            <a:ext cx="2560320" cy="365760"/>
          </a:xfrm>
          <a:prstGeom prst="rect">
            <a:avLst/>
          </a:prstGeom>
          <a:noFill/>
          <a:ln/>
        </p:spPr>
        <p:txBody>
          <a:bodyPr wrap="square" lIns="0" tIns="0" rIns="0" bIns="0" rtlCol="0" anchor="t"/>
          <a:lstStyle/>
          <a:p>
            <a:pPr marL="0" indent="0">
              <a:buNone/>
            </a:pPr>
            <a:r>
              <a:rPr lang="en-US" sz="1700" b="1" dirty="0">
                <a:solidFill>
                  <a:schemeClr val="tx2"/>
                </a:solidFill>
              </a:rPr>
              <a:t>Floor</a:t>
            </a:r>
            <a:endParaRPr lang="en-US" sz="1700" dirty="0"/>
          </a:p>
        </p:txBody>
      </p:sp>
      <p:sp>
        <p:nvSpPr>
          <p:cNvPr id="13" name="e2-c1-d"/>
          <p:cNvSpPr txBox="1"/>
          <p:nvPr/>
        </p:nvSpPr>
        <p:spPr>
          <a:xfrm>
            <a:off x="4480560" y="5166360"/>
            <a:ext cx="3200400" cy="914400"/>
          </a:xfrm>
          <a:prstGeom prst="rect">
            <a:avLst/>
          </a:prstGeom>
          <a:noFill/>
          <a:ln/>
        </p:spPr>
        <p:txBody>
          <a:bodyPr wrap="square" lIns="0" tIns="0" rIns="0" bIns="0" rtlCol="0" anchor="t"/>
          <a:lstStyle/>
          <a:p>
            <a:pPr marL="0" indent="0">
              <a:buNone/>
            </a:pPr>
            <a:r>
              <a:rPr lang="en-US" sz="1400" dirty="0">
                <a:solidFill>
                  <a:schemeClr val="tx1"/>
                </a:solidFill>
              </a:rPr>
              <a:t>Median rises from ~S$570k on low floors to over S$1M above the 28th floor.</a:t>
            </a:r>
            <a:endParaRPr lang="en-US" sz="1400" dirty="0"/>
          </a:p>
        </p:txBody>
      </p:sp>
      <p:sp>
        <p:nvSpPr>
          <p:cNvPr id="14" name="e2-c2"/>
          <p:cNvSpPr/>
          <p:nvPr/>
        </p:nvSpPr>
        <p:spPr>
          <a:xfrm>
            <a:off x="8046720" y="4434840"/>
            <a:ext cx="3566160" cy="1691640"/>
          </a:xfrm>
          <a:prstGeom prst="roundRect">
            <a:avLst>
              <a:gd name="adj" fmla="val 6486"/>
            </a:avLst>
          </a:prstGeom>
          <a:solidFill>
            <a:schemeClr val="bg2"/>
          </a:solidFill>
          <a:ln w="12700">
            <a:solidFill>
              <a:schemeClr val="bg2"/>
            </a:solidFill>
            <a:prstDash val="solid"/>
          </a:ln>
        </p:spPr>
        <p:txBody>
          <a:bodyPr/>
          <a:lstStyle/>
          <a:p>
            <a:endParaRPr lang="en-SG"/>
          </a:p>
        </p:txBody>
      </p:sp>
      <p:sp>
        <p:nvSpPr>
          <p:cNvPr id="15" name="e2-c2-circle"/>
          <p:cNvSpPr/>
          <p:nvPr/>
        </p:nvSpPr>
        <p:spPr>
          <a:xfrm>
            <a:off x="8229600" y="4572000"/>
            <a:ext cx="502920" cy="502920"/>
          </a:xfrm>
          <a:prstGeom prst="ellipse">
            <a:avLst/>
          </a:prstGeom>
          <a:solidFill>
            <a:schemeClr val="tx2"/>
          </a:solidFill>
          <a:ln w="12700">
            <a:solidFill>
              <a:schemeClr val="tx2"/>
            </a:solidFill>
            <a:prstDash val="solid"/>
          </a:ln>
        </p:spPr>
        <p:txBody>
          <a:bodyPr/>
          <a:lstStyle/>
          <a:p>
            <a:endParaRPr lang="en-SG"/>
          </a:p>
        </p:txBody>
      </p:sp>
      <p:pic>
        <p:nvPicPr>
          <p:cNvPr id="16" name="e2-c2-icon" descr="preencoded.png"/>
          <p:cNvPicPr>
            <a:picLocks noChangeAspect="1"/>
          </p:cNvPicPr>
          <p:nvPr/>
        </p:nvPicPr>
        <p:blipFill>
          <a:blip r:embed="rId6"/>
          <a:stretch>
            <a:fillRect/>
          </a:stretch>
        </p:blipFill>
        <p:spPr>
          <a:xfrm>
            <a:off x="8360359" y="4702759"/>
            <a:ext cx="241402" cy="241402"/>
          </a:xfrm>
          <a:prstGeom prst="rect">
            <a:avLst/>
          </a:prstGeom>
        </p:spPr>
      </p:pic>
      <p:sp>
        <p:nvSpPr>
          <p:cNvPr id="17" name="e2-c2-h"/>
          <p:cNvSpPr txBox="1"/>
          <p:nvPr/>
        </p:nvSpPr>
        <p:spPr>
          <a:xfrm>
            <a:off x="8869680" y="4617720"/>
            <a:ext cx="2560320" cy="365760"/>
          </a:xfrm>
          <a:prstGeom prst="rect">
            <a:avLst/>
          </a:prstGeom>
          <a:noFill/>
          <a:ln/>
        </p:spPr>
        <p:txBody>
          <a:bodyPr wrap="square" lIns="0" tIns="0" rIns="0" bIns="0" rtlCol="0" anchor="t"/>
          <a:lstStyle/>
          <a:p>
            <a:pPr marL="0" indent="0">
              <a:buNone/>
            </a:pPr>
            <a:r>
              <a:rPr lang="en-US" sz="1700" b="1" dirty="0">
                <a:solidFill>
                  <a:schemeClr val="tx2"/>
                </a:solidFill>
              </a:rPr>
              <a:t>Remaining lease</a:t>
            </a:r>
            <a:endParaRPr lang="en-US" sz="1700" dirty="0"/>
          </a:p>
        </p:txBody>
      </p:sp>
      <p:sp>
        <p:nvSpPr>
          <p:cNvPr id="18" name="e2-c2-d"/>
          <p:cNvSpPr txBox="1"/>
          <p:nvPr/>
        </p:nvSpPr>
        <p:spPr>
          <a:xfrm>
            <a:off x="8229600" y="5166360"/>
            <a:ext cx="3200400" cy="914400"/>
          </a:xfrm>
          <a:prstGeom prst="rect">
            <a:avLst/>
          </a:prstGeom>
          <a:noFill/>
          <a:ln/>
        </p:spPr>
        <p:txBody>
          <a:bodyPr wrap="square" lIns="0" tIns="0" rIns="0" bIns="0" rtlCol="0" anchor="t"/>
          <a:lstStyle/>
          <a:p>
            <a:pPr marL="0" indent="0">
              <a:buNone/>
            </a:pPr>
            <a:r>
              <a:rPr lang="en-US" sz="1400" dirty="0">
                <a:solidFill>
                  <a:schemeClr val="tx1"/>
                </a:solidFill>
              </a:rPr>
              <a:t>Not a straight line: young flats (85+ years left) carry a clear premium.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PCA: seven numbers, only four ideas</a:t>
            </a:r>
            <a:endParaRPr lang="en-US" sz="3200" dirty="0"/>
          </a:p>
        </p:txBody>
      </p:sp>
      <p:pic>
        <p:nvPicPr>
          <p:cNvPr id="3" name="pca-img" descr="/home/claude/hdb-resale-ml/figures/08_pca_loadings.png"/>
          <p:cNvPicPr>
            <a:picLocks noChangeAspect="1"/>
          </p:cNvPicPr>
          <p:nvPr/>
        </p:nvPicPr>
        <p:blipFill>
          <a:blip r:embed="rId3"/>
          <a:stretch>
            <a:fillRect/>
          </a:stretch>
        </p:blipFill>
        <p:spPr>
          <a:xfrm>
            <a:off x="548640" y="1280160"/>
            <a:ext cx="5486400" cy="3347725"/>
          </a:xfrm>
          <a:prstGeom prst="rect">
            <a:avLst/>
          </a:prstGeom>
        </p:spPr>
      </p:pic>
      <p:sp>
        <p:nvSpPr>
          <p:cNvPr id="4" name="pc0"/>
          <p:cNvSpPr/>
          <p:nvPr/>
        </p:nvSpPr>
        <p:spPr>
          <a:xfrm>
            <a:off x="6492240" y="1325880"/>
            <a:ext cx="2468880" cy="1325880"/>
          </a:xfrm>
          <a:prstGeom prst="roundRect">
            <a:avLst>
              <a:gd name="adj" fmla="val 8276"/>
            </a:avLst>
          </a:prstGeom>
          <a:solidFill>
            <a:schemeClr val="bg2"/>
          </a:solidFill>
          <a:ln w="12700">
            <a:solidFill>
              <a:schemeClr val="bg2"/>
            </a:solidFill>
            <a:prstDash val="solid"/>
          </a:ln>
        </p:spPr>
        <p:txBody>
          <a:bodyPr/>
          <a:lstStyle/>
          <a:p>
            <a:endParaRPr lang="en-SG"/>
          </a:p>
        </p:txBody>
      </p:sp>
      <p:sp>
        <p:nvSpPr>
          <p:cNvPr id="5" name="pc0-value"/>
          <p:cNvSpPr txBox="1"/>
          <p:nvPr/>
        </p:nvSpPr>
        <p:spPr>
          <a:xfrm>
            <a:off x="6675120" y="1435608"/>
            <a:ext cx="2148840" cy="73152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PC1 · 45%</a:t>
            </a:r>
            <a:endParaRPr lang="en-US" sz="2400" dirty="0"/>
          </a:p>
        </p:txBody>
      </p:sp>
      <p:sp>
        <p:nvSpPr>
          <p:cNvPr id="6" name="pc0-label"/>
          <p:cNvSpPr txBox="1"/>
          <p:nvPr/>
        </p:nvSpPr>
        <p:spPr>
          <a:xfrm>
            <a:off x="6675120" y="2167128"/>
            <a:ext cx="2148840" cy="457200"/>
          </a:xfrm>
          <a:prstGeom prst="rect">
            <a:avLst/>
          </a:prstGeom>
          <a:noFill/>
          <a:ln/>
        </p:spPr>
        <p:txBody>
          <a:bodyPr wrap="square" lIns="0" tIns="0" rIns="0" bIns="0" rtlCol="0" anchor="t"/>
          <a:lstStyle/>
          <a:p>
            <a:pPr marL="0" indent="0">
              <a:buNone/>
            </a:pPr>
            <a:r>
              <a:rPr lang="en-US" sz="1400" dirty="0">
                <a:solidFill>
                  <a:schemeClr val="tx1"/>
                </a:solidFill>
              </a:rPr>
              <a:t>Flat age (lease, age, start year)</a:t>
            </a:r>
            <a:endParaRPr lang="en-US" sz="1400" dirty="0"/>
          </a:p>
        </p:txBody>
      </p:sp>
      <p:sp>
        <p:nvSpPr>
          <p:cNvPr id="7" name="pc1"/>
          <p:cNvSpPr/>
          <p:nvPr/>
        </p:nvSpPr>
        <p:spPr>
          <a:xfrm>
            <a:off x="9098280" y="1325880"/>
            <a:ext cx="2468880" cy="1325880"/>
          </a:xfrm>
          <a:prstGeom prst="roundRect">
            <a:avLst>
              <a:gd name="adj" fmla="val 8276"/>
            </a:avLst>
          </a:prstGeom>
          <a:solidFill>
            <a:schemeClr val="bg2"/>
          </a:solidFill>
          <a:ln w="12700">
            <a:solidFill>
              <a:schemeClr val="bg2"/>
            </a:solidFill>
            <a:prstDash val="solid"/>
          </a:ln>
        </p:spPr>
        <p:txBody>
          <a:bodyPr/>
          <a:lstStyle/>
          <a:p>
            <a:endParaRPr lang="en-SG"/>
          </a:p>
        </p:txBody>
      </p:sp>
      <p:sp>
        <p:nvSpPr>
          <p:cNvPr id="8" name="pc1-value"/>
          <p:cNvSpPr txBox="1"/>
          <p:nvPr/>
        </p:nvSpPr>
        <p:spPr>
          <a:xfrm>
            <a:off x="9281160" y="1435608"/>
            <a:ext cx="2148840" cy="73152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PC2 · 28%</a:t>
            </a:r>
            <a:endParaRPr lang="en-US" sz="2400" dirty="0"/>
          </a:p>
        </p:txBody>
      </p:sp>
      <p:sp>
        <p:nvSpPr>
          <p:cNvPr id="9" name="pc1-label"/>
          <p:cNvSpPr txBox="1"/>
          <p:nvPr/>
        </p:nvSpPr>
        <p:spPr>
          <a:xfrm>
            <a:off x="9281160" y="2167128"/>
            <a:ext cx="2148840" cy="457200"/>
          </a:xfrm>
          <a:prstGeom prst="rect">
            <a:avLst/>
          </a:prstGeom>
          <a:noFill/>
          <a:ln/>
        </p:spPr>
        <p:txBody>
          <a:bodyPr wrap="square" lIns="0" tIns="0" rIns="0" bIns="0" rtlCol="0" anchor="t"/>
          <a:lstStyle/>
          <a:p>
            <a:pPr marL="0" indent="0">
              <a:buNone/>
            </a:pPr>
            <a:r>
              <a:rPr lang="en-US" sz="1400" dirty="0">
                <a:solidFill>
                  <a:schemeClr val="tx1"/>
                </a:solidFill>
              </a:rPr>
              <a:t>Size (floor area, rooms)</a:t>
            </a:r>
            <a:endParaRPr lang="en-US" sz="1400" dirty="0"/>
          </a:p>
        </p:txBody>
      </p:sp>
      <p:sp>
        <p:nvSpPr>
          <p:cNvPr id="10" name="pc2"/>
          <p:cNvSpPr/>
          <p:nvPr/>
        </p:nvSpPr>
        <p:spPr>
          <a:xfrm>
            <a:off x="6492240" y="2788920"/>
            <a:ext cx="2468880" cy="1325880"/>
          </a:xfrm>
          <a:prstGeom prst="roundRect">
            <a:avLst>
              <a:gd name="adj" fmla="val 8276"/>
            </a:avLst>
          </a:prstGeom>
          <a:solidFill>
            <a:schemeClr val="bg2"/>
          </a:solidFill>
          <a:ln w="12700">
            <a:solidFill>
              <a:schemeClr val="bg2"/>
            </a:solidFill>
            <a:prstDash val="solid"/>
          </a:ln>
        </p:spPr>
        <p:txBody>
          <a:bodyPr/>
          <a:lstStyle/>
          <a:p>
            <a:endParaRPr lang="en-SG"/>
          </a:p>
        </p:txBody>
      </p:sp>
      <p:sp>
        <p:nvSpPr>
          <p:cNvPr id="11" name="pc2-value"/>
          <p:cNvSpPr txBox="1"/>
          <p:nvPr/>
        </p:nvSpPr>
        <p:spPr>
          <a:xfrm>
            <a:off x="6675120" y="2898648"/>
            <a:ext cx="2148840" cy="731520"/>
          </a:xfrm>
          <a:prstGeom prst="rect">
            <a:avLst/>
          </a:prstGeom>
          <a:noFill/>
          <a:ln/>
        </p:spPr>
        <p:txBody>
          <a:bodyPr wrap="square" lIns="0" tIns="0" rIns="0" bIns="0" rtlCol="0" anchor="ctr"/>
          <a:lstStyle/>
          <a:p>
            <a:pPr marL="0" indent="0">
              <a:buNone/>
            </a:pPr>
            <a:r>
              <a:rPr lang="en-US" sz="2400" b="1" dirty="0">
                <a:solidFill>
                  <a:schemeClr val="tx2"/>
                </a:solidFill>
                <a:latin typeface="Cambria" pitchFamily="34" charset="0"/>
                <a:ea typeface="Cambria" pitchFamily="34" charset="-122"/>
                <a:cs typeface="Cambria" pitchFamily="34" charset="-120"/>
              </a:rPr>
              <a:t>PC3 · 14%</a:t>
            </a:r>
            <a:endParaRPr lang="en-US" sz="2400" dirty="0"/>
          </a:p>
        </p:txBody>
      </p:sp>
      <p:sp>
        <p:nvSpPr>
          <p:cNvPr id="12" name="pc2-label"/>
          <p:cNvSpPr txBox="1"/>
          <p:nvPr/>
        </p:nvSpPr>
        <p:spPr>
          <a:xfrm>
            <a:off x="6675120" y="3630168"/>
            <a:ext cx="2148840" cy="457200"/>
          </a:xfrm>
          <a:prstGeom prst="rect">
            <a:avLst/>
          </a:prstGeom>
          <a:noFill/>
          <a:ln/>
        </p:spPr>
        <p:txBody>
          <a:bodyPr wrap="square" lIns="0" tIns="0" rIns="0" bIns="0" rtlCol="0" anchor="t"/>
          <a:lstStyle/>
          <a:p>
            <a:pPr marL="0" indent="0">
              <a:buNone/>
            </a:pPr>
            <a:r>
              <a:rPr lang="en-US" sz="1400" dirty="0">
                <a:solidFill>
                  <a:schemeClr val="tx1"/>
                </a:solidFill>
              </a:rPr>
              <a:t>Time of sale</a:t>
            </a:r>
            <a:endParaRPr lang="en-US" sz="1400" dirty="0"/>
          </a:p>
        </p:txBody>
      </p:sp>
      <p:sp>
        <p:nvSpPr>
          <p:cNvPr id="13" name="pc3"/>
          <p:cNvSpPr/>
          <p:nvPr/>
        </p:nvSpPr>
        <p:spPr>
          <a:xfrm>
            <a:off x="9098280" y="2788920"/>
            <a:ext cx="2468880" cy="1325880"/>
          </a:xfrm>
          <a:prstGeom prst="roundRect">
            <a:avLst>
              <a:gd name="adj" fmla="val 8276"/>
            </a:avLst>
          </a:prstGeom>
          <a:solidFill>
            <a:schemeClr val="bg2"/>
          </a:solidFill>
          <a:ln w="12700">
            <a:solidFill>
              <a:schemeClr val="bg2"/>
            </a:solidFill>
            <a:prstDash val="solid"/>
          </a:ln>
        </p:spPr>
        <p:txBody>
          <a:bodyPr/>
          <a:lstStyle/>
          <a:p>
            <a:endParaRPr lang="en-SG"/>
          </a:p>
        </p:txBody>
      </p:sp>
      <p:sp>
        <p:nvSpPr>
          <p:cNvPr id="14" name="pc3-value"/>
          <p:cNvSpPr txBox="1"/>
          <p:nvPr/>
        </p:nvSpPr>
        <p:spPr>
          <a:xfrm>
            <a:off x="9281160" y="2898648"/>
            <a:ext cx="2148840" cy="731520"/>
          </a:xfrm>
          <a:prstGeom prst="rect">
            <a:avLst/>
          </a:prstGeom>
          <a:noFill/>
          <a:ln/>
        </p:spPr>
        <p:txBody>
          <a:bodyPr wrap="square" lIns="0" tIns="0" rIns="0" bIns="0" rtlCol="0" anchor="ctr"/>
          <a:lstStyle/>
          <a:p>
            <a:pPr marL="0" indent="0">
              <a:buNone/>
            </a:pPr>
            <a:r>
              <a:rPr lang="en-US" sz="2400" b="1" dirty="0">
                <a:solidFill>
                  <a:schemeClr val="tx2"/>
                </a:solidFill>
                <a:latin typeface="Cambria" pitchFamily="34" charset="0"/>
                <a:ea typeface="Cambria" pitchFamily="34" charset="-122"/>
                <a:cs typeface="Cambria" pitchFamily="34" charset="-120"/>
              </a:rPr>
              <a:t>PC4 · 13%</a:t>
            </a:r>
            <a:endParaRPr lang="en-US" sz="2400" dirty="0"/>
          </a:p>
        </p:txBody>
      </p:sp>
      <p:sp>
        <p:nvSpPr>
          <p:cNvPr id="15" name="pc3-label"/>
          <p:cNvSpPr txBox="1"/>
          <p:nvPr/>
        </p:nvSpPr>
        <p:spPr>
          <a:xfrm>
            <a:off x="9281160" y="3630168"/>
            <a:ext cx="2148840" cy="457200"/>
          </a:xfrm>
          <a:prstGeom prst="rect">
            <a:avLst/>
          </a:prstGeom>
          <a:noFill/>
          <a:ln/>
        </p:spPr>
        <p:txBody>
          <a:bodyPr wrap="square" lIns="0" tIns="0" rIns="0" bIns="0" rtlCol="0" anchor="t"/>
          <a:lstStyle/>
          <a:p>
            <a:pPr marL="0" indent="0">
              <a:buNone/>
            </a:pPr>
            <a:r>
              <a:rPr lang="en-US" sz="1400" dirty="0">
                <a:solidFill>
                  <a:schemeClr val="tx1"/>
                </a:solidFill>
              </a:rPr>
              <a:t>Floor height</a:t>
            </a:r>
            <a:endParaRPr lang="en-US" sz="1400" dirty="0"/>
          </a:p>
        </p:txBody>
      </p:sp>
      <p:sp>
        <p:nvSpPr>
          <p:cNvPr id="16" name="pca-so"/>
          <p:cNvSpPr/>
          <p:nvPr/>
        </p:nvSpPr>
        <p:spPr>
          <a:xfrm>
            <a:off x="6492240" y="4343400"/>
            <a:ext cx="5074920" cy="1783080"/>
          </a:xfrm>
          <a:prstGeom prst="roundRect">
            <a:avLst>
              <a:gd name="adj" fmla="val 6154"/>
            </a:avLst>
          </a:prstGeom>
          <a:solidFill>
            <a:schemeClr val="bg2"/>
          </a:solidFill>
          <a:ln w="12700">
            <a:solidFill>
              <a:schemeClr val="bg2"/>
            </a:solidFill>
            <a:prstDash val="solid"/>
          </a:ln>
        </p:spPr>
        <p:txBody>
          <a:bodyPr/>
          <a:lstStyle/>
          <a:p>
            <a:endParaRPr lang="en-SG"/>
          </a:p>
        </p:txBody>
      </p:sp>
      <p:sp>
        <p:nvSpPr>
          <p:cNvPr id="17" name="pca-so-h"/>
          <p:cNvSpPr txBox="1"/>
          <p:nvPr/>
        </p:nvSpPr>
        <p:spPr>
          <a:xfrm>
            <a:off x="6720840" y="4480560"/>
            <a:ext cx="4663440" cy="365760"/>
          </a:xfrm>
          <a:prstGeom prst="rect">
            <a:avLst/>
          </a:prstGeom>
          <a:noFill/>
          <a:ln/>
        </p:spPr>
        <p:txBody>
          <a:bodyPr wrap="square" lIns="0" tIns="0" rIns="0" bIns="0" rtlCol="0" anchor="t"/>
          <a:lstStyle/>
          <a:p>
            <a:pPr marL="0" indent="0">
              <a:buNone/>
            </a:pPr>
            <a:r>
              <a:rPr lang="en-US" sz="1700" b="1" dirty="0">
                <a:solidFill>
                  <a:schemeClr val="accent1"/>
                </a:solidFill>
              </a:rPr>
              <a:t>So what?</a:t>
            </a:r>
            <a:endParaRPr lang="en-US" sz="1700" dirty="0"/>
          </a:p>
        </p:txBody>
      </p:sp>
      <p:sp>
        <p:nvSpPr>
          <p:cNvPr id="18" name="pca-so-l"/>
          <p:cNvSpPr txBox="1"/>
          <p:nvPr/>
        </p:nvSpPr>
        <p:spPr>
          <a:xfrm>
            <a:off x="6720840" y="4846320"/>
            <a:ext cx="466344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4 components keep 99.4%: lease start and flat age copy remaining lease, so we dropped them.</a:t>
            </a:r>
            <a:endParaRPr lang="en-US" sz="1400" dirty="0"/>
          </a:p>
          <a:p>
            <a:pPr marL="342900" indent="-342900">
              <a:spcAft>
                <a:spcPts val="400"/>
              </a:spcAft>
              <a:buSzPct val="100000"/>
              <a:buChar char="•"/>
            </a:pPr>
            <a:r>
              <a:rPr lang="en-US" sz="1400" dirty="0">
                <a:solidFill>
                  <a:schemeClr val="tx1"/>
                </a:solidFill>
              </a:rPr>
              <a:t>PCA + linear regression was worse (S$58k vs S$48k error), so PCA guides us but is not a model step.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Tree models beat linear regression clearly</a:t>
            </a:r>
            <a:endParaRPr lang="en-US" sz="3200" dirty="0"/>
          </a:p>
        </p:txBody>
      </p:sp>
      <p:graphicFrame>
        <p:nvGraphicFramePr>
          <p:cNvPr id="3" name="m-chart"/>
          <p:cNvGraphicFramePr/>
          <p:nvPr/>
        </p:nvGraphicFramePr>
        <p:xfrm>
          <a:off x="548640" y="1325880"/>
          <a:ext cx="65836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m0-circle"/>
          <p:cNvSpPr/>
          <p:nvPr/>
        </p:nvSpPr>
        <p:spPr>
          <a:xfrm>
            <a:off x="7498080" y="1417320"/>
            <a:ext cx="594360" cy="594360"/>
          </a:xfrm>
          <a:prstGeom prst="ellipse">
            <a:avLst/>
          </a:prstGeom>
          <a:solidFill>
            <a:schemeClr val="tx2"/>
          </a:solidFill>
          <a:ln w="12700">
            <a:solidFill>
              <a:schemeClr val="tx2"/>
            </a:solidFill>
            <a:prstDash val="solid"/>
          </a:ln>
        </p:spPr>
        <p:txBody>
          <a:bodyPr/>
          <a:lstStyle/>
          <a:p>
            <a:endParaRPr lang="en-SG"/>
          </a:p>
        </p:txBody>
      </p:sp>
      <p:pic>
        <p:nvPicPr>
          <p:cNvPr id="5" name="m0-icon" descr="preencoded.png"/>
          <p:cNvPicPr>
            <a:picLocks noChangeAspect="1"/>
          </p:cNvPicPr>
          <p:nvPr/>
        </p:nvPicPr>
        <p:blipFill>
          <a:blip r:embed="rId4"/>
          <a:stretch>
            <a:fillRect/>
          </a:stretch>
        </p:blipFill>
        <p:spPr>
          <a:xfrm>
            <a:off x="7652614" y="1571854"/>
            <a:ext cx="285293" cy="285293"/>
          </a:xfrm>
          <a:prstGeom prst="rect">
            <a:avLst/>
          </a:prstGeom>
        </p:spPr>
      </p:pic>
      <p:sp>
        <p:nvSpPr>
          <p:cNvPr id="6" name="m0-h"/>
          <p:cNvSpPr txBox="1"/>
          <p:nvPr/>
        </p:nvSpPr>
        <p:spPr>
          <a:xfrm>
            <a:off x="8275320" y="1399032"/>
            <a:ext cx="3337560" cy="365760"/>
          </a:xfrm>
          <a:prstGeom prst="rect">
            <a:avLst/>
          </a:prstGeom>
          <a:noFill/>
          <a:ln/>
        </p:spPr>
        <p:txBody>
          <a:bodyPr wrap="square" lIns="0" tIns="0" rIns="0" bIns="0" rtlCol="0" anchor="t"/>
          <a:lstStyle/>
          <a:p>
            <a:pPr marL="0" indent="0">
              <a:buNone/>
            </a:pPr>
            <a:r>
              <a:rPr lang="en-US" sz="1700" b="1" dirty="0">
                <a:solidFill>
                  <a:schemeClr val="tx2"/>
                </a:solidFill>
              </a:rPr>
              <a:t>Baseline</a:t>
            </a:r>
            <a:endParaRPr lang="en-US" sz="1700" dirty="0"/>
          </a:p>
        </p:txBody>
      </p:sp>
      <p:sp>
        <p:nvSpPr>
          <p:cNvPr id="7" name="m0-d"/>
          <p:cNvSpPr txBox="1"/>
          <p:nvPr/>
        </p:nvSpPr>
        <p:spPr>
          <a:xfrm>
            <a:off x="8275320" y="1764792"/>
            <a:ext cx="3337560" cy="1005840"/>
          </a:xfrm>
          <a:prstGeom prst="rect">
            <a:avLst/>
          </a:prstGeom>
          <a:noFill/>
          <a:ln/>
        </p:spPr>
        <p:txBody>
          <a:bodyPr wrap="square" lIns="0" tIns="0" rIns="0" bIns="0" rtlCol="0" anchor="t"/>
          <a:lstStyle/>
          <a:p>
            <a:pPr marL="0" indent="0">
              <a:buNone/>
            </a:pPr>
            <a:r>
              <a:rPr lang="en-US" sz="1400" dirty="0">
                <a:solidFill>
                  <a:schemeClr val="tx1"/>
                </a:solidFill>
              </a:rPr>
              <a:t>Always guessing the average price is S$163k off (27%).</a:t>
            </a:r>
            <a:endParaRPr lang="en-US" sz="1400" dirty="0"/>
          </a:p>
        </p:txBody>
      </p:sp>
      <p:sp>
        <p:nvSpPr>
          <p:cNvPr id="8" name="m1-circle"/>
          <p:cNvSpPr/>
          <p:nvPr/>
        </p:nvSpPr>
        <p:spPr>
          <a:xfrm>
            <a:off x="7498080" y="2971800"/>
            <a:ext cx="594360" cy="594360"/>
          </a:xfrm>
          <a:prstGeom prst="ellipse">
            <a:avLst/>
          </a:prstGeom>
          <a:solidFill>
            <a:schemeClr val="tx2"/>
          </a:solidFill>
          <a:ln w="12700">
            <a:solidFill>
              <a:schemeClr val="tx2"/>
            </a:solidFill>
            <a:prstDash val="solid"/>
          </a:ln>
        </p:spPr>
        <p:txBody>
          <a:bodyPr/>
          <a:lstStyle/>
          <a:p>
            <a:endParaRPr lang="en-SG"/>
          </a:p>
        </p:txBody>
      </p:sp>
      <p:pic>
        <p:nvPicPr>
          <p:cNvPr id="9" name="m1-icon" descr="preencoded.png"/>
          <p:cNvPicPr>
            <a:picLocks noChangeAspect="1"/>
          </p:cNvPicPr>
          <p:nvPr/>
        </p:nvPicPr>
        <p:blipFill>
          <a:blip r:embed="rId5"/>
          <a:stretch>
            <a:fillRect/>
          </a:stretch>
        </p:blipFill>
        <p:spPr>
          <a:xfrm>
            <a:off x="7652614" y="3126334"/>
            <a:ext cx="285293" cy="285293"/>
          </a:xfrm>
          <a:prstGeom prst="rect">
            <a:avLst/>
          </a:prstGeom>
        </p:spPr>
      </p:pic>
      <p:sp>
        <p:nvSpPr>
          <p:cNvPr id="10" name="m1-h"/>
          <p:cNvSpPr txBox="1"/>
          <p:nvPr/>
        </p:nvSpPr>
        <p:spPr>
          <a:xfrm>
            <a:off x="8275320" y="2953512"/>
            <a:ext cx="3337560" cy="365760"/>
          </a:xfrm>
          <a:prstGeom prst="rect">
            <a:avLst/>
          </a:prstGeom>
          <a:noFill/>
          <a:ln/>
        </p:spPr>
        <p:txBody>
          <a:bodyPr wrap="square" lIns="0" tIns="0" rIns="0" bIns="0" rtlCol="0" anchor="t"/>
          <a:lstStyle/>
          <a:p>
            <a:pPr marL="0" indent="0">
              <a:buNone/>
            </a:pPr>
            <a:r>
              <a:rPr lang="en-US" sz="1700" b="1" dirty="0">
                <a:solidFill>
                  <a:schemeClr val="tx2"/>
                </a:solidFill>
              </a:rPr>
              <a:t>Why trees win</a:t>
            </a:r>
            <a:endParaRPr lang="en-US" sz="1700" dirty="0"/>
          </a:p>
        </p:txBody>
      </p:sp>
      <p:sp>
        <p:nvSpPr>
          <p:cNvPr id="11" name="m1-d"/>
          <p:cNvSpPr txBox="1"/>
          <p:nvPr/>
        </p:nvSpPr>
        <p:spPr>
          <a:xfrm>
            <a:off x="8275320" y="3319272"/>
            <a:ext cx="3337560" cy="1005840"/>
          </a:xfrm>
          <a:prstGeom prst="rect">
            <a:avLst/>
          </a:prstGeom>
          <a:noFill/>
          <a:ln/>
        </p:spPr>
        <p:txBody>
          <a:bodyPr wrap="square" lIns="0" tIns="0" rIns="0" bIns="0" rtlCol="0" anchor="t"/>
          <a:lstStyle/>
          <a:p>
            <a:pPr marL="0" indent="0">
              <a:buNone/>
            </a:pPr>
            <a:r>
              <a:rPr lang="en-US" sz="1400" dirty="0">
                <a:solidFill>
                  <a:schemeClr val="tx1"/>
                </a:solidFill>
              </a:rPr>
              <a:t>They capture curves and combinations, e.g. lease and size work differently by town.</a:t>
            </a:r>
            <a:endParaRPr lang="en-US" sz="1400" dirty="0"/>
          </a:p>
        </p:txBody>
      </p:sp>
      <p:sp>
        <p:nvSpPr>
          <p:cNvPr id="12" name="m2-circle"/>
          <p:cNvSpPr/>
          <p:nvPr/>
        </p:nvSpPr>
        <p:spPr>
          <a:xfrm>
            <a:off x="7498080" y="4526280"/>
            <a:ext cx="594360" cy="594360"/>
          </a:xfrm>
          <a:prstGeom prst="ellipse">
            <a:avLst/>
          </a:prstGeom>
          <a:solidFill>
            <a:schemeClr val="accent1"/>
          </a:solidFill>
          <a:ln w="12700">
            <a:solidFill>
              <a:schemeClr val="accent1"/>
            </a:solidFill>
            <a:prstDash val="solid"/>
          </a:ln>
        </p:spPr>
        <p:txBody>
          <a:bodyPr/>
          <a:lstStyle/>
          <a:p>
            <a:endParaRPr lang="en-SG"/>
          </a:p>
        </p:txBody>
      </p:sp>
      <p:pic>
        <p:nvPicPr>
          <p:cNvPr id="13" name="m2-icon" descr="preencoded.png"/>
          <p:cNvPicPr>
            <a:picLocks noChangeAspect="1"/>
          </p:cNvPicPr>
          <p:nvPr/>
        </p:nvPicPr>
        <p:blipFill>
          <a:blip r:embed="rId6"/>
          <a:stretch>
            <a:fillRect/>
          </a:stretch>
        </p:blipFill>
        <p:spPr>
          <a:xfrm>
            <a:off x="7652614" y="4680814"/>
            <a:ext cx="285293" cy="285293"/>
          </a:xfrm>
          <a:prstGeom prst="rect">
            <a:avLst/>
          </a:prstGeom>
        </p:spPr>
      </p:pic>
      <p:sp>
        <p:nvSpPr>
          <p:cNvPr id="14" name="m2-h"/>
          <p:cNvSpPr txBox="1"/>
          <p:nvPr/>
        </p:nvSpPr>
        <p:spPr>
          <a:xfrm>
            <a:off x="8275320" y="4507992"/>
            <a:ext cx="3337560" cy="365760"/>
          </a:xfrm>
          <a:prstGeom prst="rect">
            <a:avLst/>
          </a:prstGeom>
          <a:noFill/>
          <a:ln/>
        </p:spPr>
        <p:txBody>
          <a:bodyPr wrap="square" lIns="0" tIns="0" rIns="0" bIns="0" rtlCol="0" anchor="t"/>
          <a:lstStyle/>
          <a:p>
            <a:pPr marL="0" indent="0">
              <a:buNone/>
            </a:pPr>
            <a:r>
              <a:rPr lang="en-US" sz="1700" b="1" dirty="0">
                <a:solidFill>
                  <a:schemeClr val="tx2"/>
                </a:solidFill>
              </a:rPr>
              <a:t>Overfitting check</a:t>
            </a:r>
            <a:endParaRPr lang="en-US" sz="1700" dirty="0"/>
          </a:p>
        </p:txBody>
      </p:sp>
      <p:sp>
        <p:nvSpPr>
          <p:cNvPr id="15" name="m2-d"/>
          <p:cNvSpPr txBox="1"/>
          <p:nvPr/>
        </p:nvSpPr>
        <p:spPr>
          <a:xfrm>
            <a:off x="8275320" y="4873752"/>
            <a:ext cx="3337560" cy="1005840"/>
          </a:xfrm>
          <a:prstGeom prst="rect">
            <a:avLst/>
          </a:prstGeom>
          <a:noFill/>
          <a:ln/>
        </p:spPr>
        <p:txBody>
          <a:bodyPr wrap="square" lIns="0" tIns="0" rIns="0" bIns="0" rtlCol="0" anchor="t"/>
          <a:lstStyle/>
          <a:p>
            <a:pPr marL="0" indent="0">
              <a:buNone/>
            </a:pPr>
            <a:r>
              <a:rPr lang="en-US" sz="1400" dirty="0">
                <a:solidFill>
                  <a:schemeClr val="tx1"/>
                </a:solidFill>
              </a:rPr>
              <a:t>Linear: train = CV (too simple). Random Forest is 2× better on training data (memorising).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AutoML (FLAML): LightGBM comes out on top</a:t>
            </a:r>
            <a:endParaRPr lang="en-US" sz="3200" dirty="0"/>
          </a:p>
        </p:txBody>
      </p:sp>
      <p:pic>
        <p:nvPicPr>
          <p:cNvPr id="3" name="a-img" descr="/home/claude/hdb-resale-ml/figures/11_automl_leaderboard.png"/>
          <p:cNvPicPr>
            <a:picLocks noChangeAspect="1"/>
          </p:cNvPicPr>
          <p:nvPr/>
        </p:nvPicPr>
        <p:blipFill>
          <a:blip r:embed="rId3"/>
          <a:stretch>
            <a:fillRect/>
          </a:stretch>
        </p:blipFill>
        <p:spPr>
          <a:xfrm>
            <a:off x="548640" y="1280160"/>
            <a:ext cx="5852160" cy="2720889"/>
          </a:xfrm>
          <a:prstGeom prst="rect">
            <a:avLst/>
          </a:prstGeom>
        </p:spPr>
      </p:pic>
      <p:sp>
        <p:nvSpPr>
          <p:cNvPr id="4" name="a-stat"/>
          <p:cNvSpPr/>
          <p:nvPr/>
        </p:nvSpPr>
        <p:spPr>
          <a:xfrm>
            <a:off x="6766560" y="1325880"/>
            <a:ext cx="4846320" cy="2651760"/>
          </a:xfrm>
          <a:prstGeom prst="roundRect">
            <a:avLst>
              <a:gd name="adj" fmla="val 4138"/>
            </a:avLst>
          </a:prstGeom>
          <a:solidFill>
            <a:schemeClr val="bg2"/>
          </a:solidFill>
          <a:ln w="12700">
            <a:solidFill>
              <a:schemeClr val="bg2"/>
            </a:solidFill>
            <a:prstDash val="solid"/>
          </a:ln>
        </p:spPr>
        <p:txBody>
          <a:bodyPr/>
          <a:lstStyle/>
          <a:p>
            <a:endParaRPr lang="en-SG"/>
          </a:p>
        </p:txBody>
      </p:sp>
      <p:sp>
        <p:nvSpPr>
          <p:cNvPr id="5" name="a-s-value"/>
          <p:cNvSpPr txBox="1"/>
          <p:nvPr/>
        </p:nvSpPr>
        <p:spPr>
          <a:xfrm>
            <a:off x="6995160" y="1463040"/>
            <a:ext cx="4389120" cy="731520"/>
          </a:xfrm>
          <a:prstGeom prst="rect">
            <a:avLst/>
          </a:prstGeom>
          <a:noFill/>
          <a:ln/>
        </p:spPr>
        <p:txBody>
          <a:bodyPr wrap="square" lIns="0" tIns="0" rIns="0" bIns="0" rtlCol="0" anchor="ctr"/>
          <a:lstStyle/>
          <a:p>
            <a:pPr marL="0" indent="0">
              <a:buNone/>
            </a:pPr>
            <a:r>
              <a:rPr lang="en-US" sz="3600" b="1" dirty="0">
                <a:solidFill>
                  <a:schemeClr val="accent1"/>
                </a:solidFill>
                <a:latin typeface="Cambria" pitchFamily="34" charset="0"/>
                <a:ea typeface="Cambria" pitchFamily="34" charset="-122"/>
                <a:cs typeface="Cambria" pitchFamily="34" charset="-120"/>
              </a:rPr>
              <a:t>S$30.1k</a:t>
            </a:r>
            <a:endParaRPr lang="en-US" sz="3600" dirty="0"/>
          </a:p>
        </p:txBody>
      </p:sp>
      <p:sp>
        <p:nvSpPr>
          <p:cNvPr id="6" name="a-s-label"/>
          <p:cNvSpPr txBox="1"/>
          <p:nvPr/>
        </p:nvSpPr>
        <p:spPr>
          <a:xfrm>
            <a:off x="6995160" y="2194560"/>
            <a:ext cx="4389120" cy="1097280"/>
          </a:xfrm>
          <a:prstGeom prst="rect">
            <a:avLst/>
          </a:prstGeom>
          <a:noFill/>
          <a:ln/>
        </p:spPr>
        <p:txBody>
          <a:bodyPr wrap="square" lIns="0" tIns="0" rIns="0" bIns="0" rtlCol="0" anchor="t"/>
          <a:lstStyle/>
          <a:p>
            <a:pPr marL="0" indent="0">
              <a:buNone/>
            </a:pPr>
            <a:r>
              <a:rPr lang="en-US" sz="1400" dirty="0">
                <a:solidFill>
                  <a:schemeClr val="tx1"/>
                </a:solidFill>
              </a:rPr>
              <a:t>CV MAE of FLAML's best LightGBM: better than default LightGBM (S$33.7k). 50 trials in about 70 seconds.</a:t>
            </a:r>
            <a:endParaRPr lang="en-US" sz="1400" dirty="0"/>
          </a:p>
        </p:txBody>
      </p:sp>
      <p:sp>
        <p:nvSpPr>
          <p:cNvPr id="7" name="a-c0"/>
          <p:cNvSpPr/>
          <p:nvPr/>
        </p:nvSpPr>
        <p:spPr>
          <a:xfrm>
            <a:off x="548640" y="4251960"/>
            <a:ext cx="3566160" cy="1874520"/>
          </a:xfrm>
          <a:prstGeom prst="roundRect">
            <a:avLst>
              <a:gd name="adj" fmla="val 5854"/>
            </a:avLst>
          </a:prstGeom>
          <a:solidFill>
            <a:schemeClr val="bg2"/>
          </a:solidFill>
          <a:ln w="12700">
            <a:solidFill>
              <a:schemeClr val="bg2"/>
            </a:solidFill>
            <a:prstDash val="solid"/>
          </a:ln>
        </p:spPr>
        <p:txBody>
          <a:bodyPr/>
          <a:lstStyle/>
          <a:p>
            <a:endParaRPr lang="en-SG"/>
          </a:p>
        </p:txBody>
      </p:sp>
      <p:sp>
        <p:nvSpPr>
          <p:cNvPr id="8" name="a-c0-h"/>
          <p:cNvSpPr txBox="1"/>
          <p:nvPr/>
        </p:nvSpPr>
        <p:spPr>
          <a:xfrm>
            <a:off x="777240" y="4389120"/>
            <a:ext cx="3108960" cy="365760"/>
          </a:xfrm>
          <a:prstGeom prst="rect">
            <a:avLst/>
          </a:prstGeom>
          <a:noFill/>
          <a:ln/>
        </p:spPr>
        <p:txBody>
          <a:bodyPr wrap="square" lIns="0" tIns="0" rIns="0" bIns="0" rtlCol="0" anchor="t"/>
          <a:lstStyle/>
          <a:p>
            <a:pPr marL="0" indent="0">
              <a:buNone/>
            </a:pPr>
            <a:r>
              <a:rPr lang="en-US" sz="1700" b="1" dirty="0">
                <a:solidFill>
                  <a:schemeClr val="tx2"/>
                </a:solidFill>
              </a:rPr>
              <a:t>It confirms our plan</a:t>
            </a:r>
            <a:endParaRPr lang="en-US" sz="1700" dirty="0"/>
          </a:p>
        </p:txBody>
      </p:sp>
      <p:sp>
        <p:nvSpPr>
          <p:cNvPr id="9" name="a-c0-d"/>
          <p:cNvSpPr txBox="1"/>
          <p:nvPr/>
        </p:nvSpPr>
        <p:spPr>
          <a:xfrm>
            <a:off x="777240" y="4773168"/>
            <a:ext cx="3108960" cy="1280160"/>
          </a:xfrm>
          <a:prstGeom prst="rect">
            <a:avLst/>
          </a:prstGeom>
          <a:noFill/>
          <a:ln/>
        </p:spPr>
        <p:txBody>
          <a:bodyPr wrap="square" lIns="0" tIns="0" rIns="0" bIns="0" rtlCol="0" anchor="t"/>
          <a:lstStyle/>
          <a:p>
            <a:pPr marL="0" indent="0">
              <a:buNone/>
            </a:pPr>
            <a:r>
              <a:rPr lang="en-US" sz="1400" dirty="0">
                <a:solidFill>
                  <a:schemeClr val="tx1"/>
                </a:solidFill>
              </a:rPr>
              <a:t>Boosted trees are the right family, so we tune LightGBM next.</a:t>
            </a:r>
            <a:endParaRPr lang="en-US" sz="1400" dirty="0"/>
          </a:p>
        </p:txBody>
      </p:sp>
      <p:sp>
        <p:nvSpPr>
          <p:cNvPr id="10" name="a-c1"/>
          <p:cNvSpPr/>
          <p:nvPr/>
        </p:nvSpPr>
        <p:spPr>
          <a:xfrm>
            <a:off x="4297680" y="4251960"/>
            <a:ext cx="3566160" cy="1874520"/>
          </a:xfrm>
          <a:prstGeom prst="roundRect">
            <a:avLst>
              <a:gd name="adj" fmla="val 5854"/>
            </a:avLst>
          </a:prstGeom>
          <a:solidFill>
            <a:schemeClr val="bg2"/>
          </a:solidFill>
          <a:ln w="12700">
            <a:solidFill>
              <a:schemeClr val="bg2"/>
            </a:solidFill>
            <a:prstDash val="solid"/>
          </a:ln>
        </p:spPr>
        <p:txBody>
          <a:bodyPr/>
          <a:lstStyle/>
          <a:p>
            <a:endParaRPr lang="en-SG"/>
          </a:p>
        </p:txBody>
      </p:sp>
      <p:sp>
        <p:nvSpPr>
          <p:cNvPr id="11" name="a-c1-h"/>
          <p:cNvSpPr txBox="1"/>
          <p:nvPr/>
        </p:nvSpPr>
        <p:spPr>
          <a:xfrm>
            <a:off x="4526280" y="4389120"/>
            <a:ext cx="3108960" cy="365760"/>
          </a:xfrm>
          <a:prstGeom prst="rect">
            <a:avLst/>
          </a:prstGeom>
          <a:noFill/>
          <a:ln/>
        </p:spPr>
        <p:txBody>
          <a:bodyPr wrap="square" lIns="0" tIns="0" rIns="0" bIns="0" rtlCol="0" anchor="t"/>
          <a:lstStyle/>
          <a:p>
            <a:pPr marL="0" indent="0">
              <a:buNone/>
            </a:pPr>
            <a:r>
              <a:rPr lang="en-US" sz="1700" b="1" dirty="0">
                <a:solidFill>
                  <a:schemeClr val="accent1"/>
                </a:solidFill>
              </a:rPr>
              <a:t>Read it critically</a:t>
            </a:r>
            <a:endParaRPr lang="en-US" sz="1700" dirty="0"/>
          </a:p>
        </p:txBody>
      </p:sp>
      <p:sp>
        <p:nvSpPr>
          <p:cNvPr id="12" name="a-c1-d"/>
          <p:cNvSpPr txBox="1"/>
          <p:nvPr/>
        </p:nvSpPr>
        <p:spPr>
          <a:xfrm>
            <a:off x="4526280" y="4773168"/>
            <a:ext cx="3108960" cy="1280160"/>
          </a:xfrm>
          <a:prstGeom prst="rect">
            <a:avLst/>
          </a:prstGeom>
          <a:noFill/>
          <a:ln/>
        </p:spPr>
        <p:txBody>
          <a:bodyPr wrap="square" lIns="0" tIns="0" rIns="0" bIns="0" rtlCol="0" anchor="t"/>
          <a:lstStyle/>
          <a:p>
            <a:pPr marL="0" indent="0">
              <a:buNone/>
            </a:pPr>
            <a:r>
              <a:rPr lang="en-US" sz="1400" dirty="0">
                <a:solidFill>
                  <a:schemeClr val="tx1"/>
                </a:solidFill>
              </a:rPr>
              <a:t>FLAML ranked Random Forest last (10%), but our own Random Forest reached 4.5%: it just got few trials.</a:t>
            </a:r>
            <a:endParaRPr lang="en-US" sz="1400" dirty="0"/>
          </a:p>
        </p:txBody>
      </p:sp>
      <p:sp>
        <p:nvSpPr>
          <p:cNvPr id="13" name="a-c2"/>
          <p:cNvSpPr/>
          <p:nvPr/>
        </p:nvSpPr>
        <p:spPr>
          <a:xfrm>
            <a:off x="8046720" y="4251960"/>
            <a:ext cx="3566160" cy="1874520"/>
          </a:xfrm>
          <a:prstGeom prst="roundRect">
            <a:avLst>
              <a:gd name="adj" fmla="val 5854"/>
            </a:avLst>
          </a:prstGeom>
          <a:solidFill>
            <a:schemeClr val="bg2"/>
          </a:solidFill>
          <a:ln w="12700">
            <a:solidFill>
              <a:schemeClr val="bg2"/>
            </a:solidFill>
            <a:prstDash val="solid"/>
          </a:ln>
        </p:spPr>
        <p:txBody>
          <a:bodyPr/>
          <a:lstStyle/>
          <a:p>
            <a:endParaRPr lang="en-SG"/>
          </a:p>
        </p:txBody>
      </p:sp>
      <p:sp>
        <p:nvSpPr>
          <p:cNvPr id="14" name="a-c2-h"/>
          <p:cNvSpPr txBox="1"/>
          <p:nvPr/>
        </p:nvSpPr>
        <p:spPr>
          <a:xfrm>
            <a:off x="8275320" y="4389120"/>
            <a:ext cx="3108960" cy="365760"/>
          </a:xfrm>
          <a:prstGeom prst="rect">
            <a:avLst/>
          </a:prstGeom>
          <a:noFill/>
          <a:ln/>
        </p:spPr>
        <p:txBody>
          <a:bodyPr wrap="square" lIns="0" tIns="0" rIns="0" bIns="0" rtlCol="0" anchor="t"/>
          <a:lstStyle/>
          <a:p>
            <a:pPr marL="0" indent="0">
              <a:buNone/>
            </a:pPr>
            <a:r>
              <a:rPr lang="en-US" sz="1700" b="1" dirty="0">
                <a:solidFill>
                  <a:schemeClr val="tx2"/>
                </a:solidFill>
              </a:rPr>
              <a:t>Limitations</a:t>
            </a:r>
            <a:endParaRPr lang="en-US" sz="1700" dirty="0"/>
          </a:p>
        </p:txBody>
      </p:sp>
      <p:sp>
        <p:nvSpPr>
          <p:cNvPr id="15" name="a-c2-d"/>
          <p:cNvSpPr txBox="1"/>
          <p:nvPr/>
        </p:nvSpPr>
        <p:spPr>
          <a:xfrm>
            <a:off x="8275320" y="4773168"/>
            <a:ext cx="3108960" cy="1280160"/>
          </a:xfrm>
          <a:prstGeom prst="rect">
            <a:avLst/>
          </a:prstGeom>
          <a:noFill/>
          <a:ln/>
        </p:spPr>
        <p:txBody>
          <a:bodyPr wrap="square" lIns="0" tIns="0" rIns="0" bIns="0" rtlCol="0" anchor="t"/>
          <a:lstStyle/>
          <a:p>
            <a:pPr marL="0" indent="0">
              <a:buNone/>
            </a:pPr>
            <a:r>
              <a:rPr lang="en-US" sz="1400" dirty="0">
                <a:solidFill>
                  <a:schemeClr val="tx1"/>
                </a:solidFill>
              </a:rPr>
              <a:t>Optimises one number; depends on budget; reuses folds; cannot prepare the data.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Optuna tuning cut the error by 15.8%</a:t>
            </a:r>
            <a:endParaRPr lang="en-US" sz="3200" dirty="0"/>
          </a:p>
        </p:txBody>
      </p:sp>
      <p:pic>
        <p:nvPicPr>
          <p:cNvPr id="3" name="o-img" descr="/home/claude/hdb-resale-ml/figures/12_optuna_tuning.png"/>
          <p:cNvPicPr>
            <a:picLocks noChangeAspect="1"/>
          </p:cNvPicPr>
          <p:nvPr/>
        </p:nvPicPr>
        <p:blipFill>
          <a:blip r:embed="rId3"/>
          <a:stretch>
            <a:fillRect/>
          </a:stretch>
        </p:blipFill>
        <p:spPr>
          <a:xfrm>
            <a:off x="548640" y="1280160"/>
            <a:ext cx="8138160" cy="2319886"/>
          </a:xfrm>
          <a:prstGeom prst="rect">
            <a:avLst/>
          </a:prstGeom>
        </p:spPr>
      </p:pic>
      <p:sp>
        <p:nvSpPr>
          <p:cNvPr id="4" name="o-stat"/>
          <p:cNvSpPr/>
          <p:nvPr/>
        </p:nvSpPr>
        <p:spPr>
          <a:xfrm>
            <a:off x="8961120" y="1325880"/>
            <a:ext cx="2651760" cy="2651760"/>
          </a:xfrm>
          <a:prstGeom prst="roundRect">
            <a:avLst>
              <a:gd name="adj" fmla="val 4138"/>
            </a:avLst>
          </a:prstGeom>
          <a:solidFill>
            <a:schemeClr val="bg2"/>
          </a:solidFill>
          <a:ln w="12700">
            <a:solidFill>
              <a:schemeClr val="bg2"/>
            </a:solidFill>
            <a:prstDash val="solid"/>
          </a:ln>
        </p:spPr>
        <p:txBody>
          <a:bodyPr/>
          <a:lstStyle/>
          <a:p>
            <a:endParaRPr lang="en-SG"/>
          </a:p>
        </p:txBody>
      </p:sp>
      <p:sp>
        <p:nvSpPr>
          <p:cNvPr id="5" name="o-s-value"/>
          <p:cNvSpPr txBox="1"/>
          <p:nvPr/>
        </p:nvSpPr>
        <p:spPr>
          <a:xfrm>
            <a:off x="9144000" y="1463040"/>
            <a:ext cx="2286000" cy="73152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−S$5,332</a:t>
            </a:r>
            <a:endParaRPr lang="en-US" sz="3000" dirty="0"/>
          </a:p>
        </p:txBody>
      </p:sp>
      <p:sp>
        <p:nvSpPr>
          <p:cNvPr id="6" name="o-s-label"/>
          <p:cNvSpPr txBox="1"/>
          <p:nvPr/>
        </p:nvSpPr>
        <p:spPr>
          <a:xfrm>
            <a:off x="9144000" y="2194560"/>
            <a:ext cx="2286000" cy="1097280"/>
          </a:xfrm>
          <a:prstGeom prst="rect">
            <a:avLst/>
          </a:prstGeom>
          <a:noFill/>
          <a:ln/>
        </p:spPr>
        <p:txBody>
          <a:bodyPr wrap="square" lIns="0" tIns="0" rIns="0" bIns="0" rtlCol="0" anchor="t"/>
          <a:lstStyle/>
          <a:p>
            <a:pPr marL="0" indent="0">
              <a:buNone/>
            </a:pPr>
            <a:r>
              <a:rPr lang="en-US" sz="1400" dirty="0">
                <a:solidFill>
                  <a:schemeClr val="tx1"/>
                </a:solidFill>
              </a:rPr>
              <a:t>CV MAE: S$33.7k (default) → S$28.4k (tuned)</a:t>
            </a:r>
            <a:endParaRPr lang="en-US" sz="1400" dirty="0"/>
          </a:p>
        </p:txBody>
      </p:sp>
      <p:sp>
        <p:nvSpPr>
          <p:cNvPr id="7" name="o-c0"/>
          <p:cNvSpPr/>
          <p:nvPr/>
        </p:nvSpPr>
        <p:spPr>
          <a:xfrm>
            <a:off x="548640" y="4251960"/>
            <a:ext cx="3566160" cy="1874520"/>
          </a:xfrm>
          <a:prstGeom prst="roundRect">
            <a:avLst>
              <a:gd name="adj" fmla="val 5854"/>
            </a:avLst>
          </a:prstGeom>
          <a:solidFill>
            <a:schemeClr val="bg2"/>
          </a:solidFill>
          <a:ln w="12700">
            <a:solidFill>
              <a:schemeClr val="bg2"/>
            </a:solidFill>
            <a:prstDash val="solid"/>
          </a:ln>
        </p:spPr>
        <p:txBody>
          <a:bodyPr/>
          <a:lstStyle/>
          <a:p>
            <a:endParaRPr lang="en-SG"/>
          </a:p>
        </p:txBody>
      </p:sp>
      <p:sp>
        <p:nvSpPr>
          <p:cNvPr id="8" name="o-c0-h"/>
          <p:cNvSpPr txBox="1"/>
          <p:nvPr/>
        </p:nvSpPr>
        <p:spPr>
          <a:xfrm>
            <a:off x="777240" y="4389120"/>
            <a:ext cx="3108960" cy="365760"/>
          </a:xfrm>
          <a:prstGeom prst="rect">
            <a:avLst/>
          </a:prstGeom>
          <a:noFill/>
          <a:ln/>
        </p:spPr>
        <p:txBody>
          <a:bodyPr wrap="square" lIns="0" tIns="0" rIns="0" bIns="0" rtlCol="0" anchor="t"/>
          <a:lstStyle/>
          <a:p>
            <a:pPr marL="0" indent="0">
              <a:buNone/>
            </a:pPr>
            <a:r>
              <a:rPr lang="en-US" sz="1700" b="1" dirty="0">
                <a:solidFill>
                  <a:schemeClr val="tx2"/>
                </a:solidFill>
              </a:rPr>
              <a:t>Strategy</a:t>
            </a:r>
            <a:endParaRPr lang="en-US" sz="1700" dirty="0"/>
          </a:p>
        </p:txBody>
      </p:sp>
      <p:sp>
        <p:nvSpPr>
          <p:cNvPr id="9" name="o-c0-d"/>
          <p:cNvSpPr txBox="1"/>
          <p:nvPr/>
        </p:nvSpPr>
        <p:spPr>
          <a:xfrm>
            <a:off x="777240" y="4773168"/>
            <a:ext cx="3108960" cy="1280160"/>
          </a:xfrm>
          <a:prstGeom prst="rect">
            <a:avLst/>
          </a:prstGeom>
          <a:noFill/>
          <a:ln/>
        </p:spPr>
        <p:txBody>
          <a:bodyPr wrap="square" lIns="0" tIns="0" rIns="0" bIns="0" rtlCol="0" anchor="t"/>
          <a:lstStyle/>
          <a:p>
            <a:pPr marL="0" indent="0">
              <a:buNone/>
            </a:pPr>
            <a:r>
              <a:rPr lang="en-US" sz="1400" dirty="0">
                <a:solidFill>
                  <a:schemeClr val="tx1"/>
                </a:solidFill>
              </a:rPr>
              <a:t>Bayesian TPE search, 20 trials, each scored by 5-fold CV. Grid search over 7 settings would need ~2,000 runs.</a:t>
            </a:r>
            <a:endParaRPr lang="en-US" sz="1400" dirty="0"/>
          </a:p>
        </p:txBody>
      </p:sp>
      <p:sp>
        <p:nvSpPr>
          <p:cNvPr id="10" name="o-c1"/>
          <p:cNvSpPr/>
          <p:nvPr/>
        </p:nvSpPr>
        <p:spPr>
          <a:xfrm>
            <a:off x="4297680" y="4251960"/>
            <a:ext cx="3566160" cy="1874520"/>
          </a:xfrm>
          <a:prstGeom prst="roundRect">
            <a:avLst>
              <a:gd name="adj" fmla="val 5854"/>
            </a:avLst>
          </a:prstGeom>
          <a:solidFill>
            <a:schemeClr val="bg2"/>
          </a:solidFill>
          <a:ln w="12700">
            <a:solidFill>
              <a:schemeClr val="bg2"/>
            </a:solidFill>
            <a:prstDash val="solid"/>
          </a:ln>
        </p:spPr>
        <p:txBody>
          <a:bodyPr/>
          <a:lstStyle/>
          <a:p>
            <a:endParaRPr lang="en-SG"/>
          </a:p>
        </p:txBody>
      </p:sp>
      <p:sp>
        <p:nvSpPr>
          <p:cNvPr id="11" name="o-c1-h"/>
          <p:cNvSpPr txBox="1"/>
          <p:nvPr/>
        </p:nvSpPr>
        <p:spPr>
          <a:xfrm>
            <a:off x="4526280" y="4389120"/>
            <a:ext cx="3108960" cy="365760"/>
          </a:xfrm>
          <a:prstGeom prst="rect">
            <a:avLst/>
          </a:prstGeom>
          <a:noFill/>
          <a:ln/>
        </p:spPr>
        <p:txBody>
          <a:bodyPr wrap="square" lIns="0" tIns="0" rIns="0" bIns="0" rtlCol="0" anchor="t"/>
          <a:lstStyle/>
          <a:p>
            <a:pPr marL="0" indent="0">
              <a:buNone/>
            </a:pPr>
            <a:r>
              <a:rPr lang="en-US" sz="1700" b="1" dirty="0">
                <a:solidFill>
                  <a:schemeClr val="tx2"/>
                </a:solidFill>
              </a:rPr>
              <a:t>Best settings</a:t>
            </a:r>
            <a:endParaRPr lang="en-US" sz="1700" dirty="0"/>
          </a:p>
        </p:txBody>
      </p:sp>
      <p:sp>
        <p:nvSpPr>
          <p:cNvPr id="12" name="o-c1-d"/>
          <p:cNvSpPr txBox="1"/>
          <p:nvPr/>
        </p:nvSpPr>
        <p:spPr>
          <a:xfrm>
            <a:off x="4526280" y="4773168"/>
            <a:ext cx="3108960" cy="1280160"/>
          </a:xfrm>
          <a:prstGeom prst="rect">
            <a:avLst/>
          </a:prstGeom>
          <a:noFill/>
          <a:ln/>
        </p:spPr>
        <p:txBody>
          <a:bodyPr wrap="square" lIns="0" tIns="0" rIns="0" bIns="0" rtlCol="0" anchor="t"/>
          <a:lstStyle/>
          <a:p>
            <a:pPr marL="0" indent="0">
              <a:buNone/>
            </a:pPr>
            <a:r>
              <a:rPr lang="en-US" sz="1400" dirty="0">
                <a:solidFill>
                  <a:schemeClr val="tx1"/>
                </a:solidFill>
              </a:rPr>
              <a:t>900 trees, learning rate 0.06, 68 leaves, small leaves (6 flats): a richer model than the default.</a:t>
            </a:r>
            <a:endParaRPr lang="en-US" sz="1400" dirty="0"/>
          </a:p>
        </p:txBody>
      </p:sp>
      <p:sp>
        <p:nvSpPr>
          <p:cNvPr id="13" name="o-c2"/>
          <p:cNvSpPr/>
          <p:nvPr/>
        </p:nvSpPr>
        <p:spPr>
          <a:xfrm>
            <a:off x="8046720" y="4251960"/>
            <a:ext cx="3566160" cy="1874520"/>
          </a:xfrm>
          <a:prstGeom prst="roundRect">
            <a:avLst>
              <a:gd name="adj" fmla="val 5854"/>
            </a:avLst>
          </a:prstGeom>
          <a:solidFill>
            <a:schemeClr val="bg2"/>
          </a:solidFill>
          <a:ln w="12700">
            <a:solidFill>
              <a:schemeClr val="bg2"/>
            </a:solidFill>
            <a:prstDash val="solid"/>
          </a:ln>
        </p:spPr>
        <p:txBody>
          <a:bodyPr/>
          <a:lstStyle/>
          <a:p>
            <a:endParaRPr lang="en-SG"/>
          </a:p>
        </p:txBody>
      </p:sp>
      <p:sp>
        <p:nvSpPr>
          <p:cNvPr id="14" name="o-c2-h"/>
          <p:cNvSpPr txBox="1"/>
          <p:nvPr/>
        </p:nvSpPr>
        <p:spPr>
          <a:xfrm>
            <a:off x="8275320" y="4389120"/>
            <a:ext cx="3108960" cy="365760"/>
          </a:xfrm>
          <a:prstGeom prst="rect">
            <a:avLst/>
          </a:prstGeom>
          <a:noFill/>
          <a:ln/>
        </p:spPr>
        <p:txBody>
          <a:bodyPr wrap="square" lIns="0" tIns="0" rIns="0" bIns="0" rtlCol="0" anchor="t"/>
          <a:lstStyle/>
          <a:p>
            <a:pPr marL="0" indent="0">
              <a:buNone/>
            </a:pPr>
            <a:r>
              <a:rPr lang="en-US" sz="1700" b="1" dirty="0">
                <a:solidFill>
                  <a:schemeClr val="tx2"/>
                </a:solidFill>
              </a:rPr>
              <a:t>What mattered</a:t>
            </a:r>
            <a:endParaRPr lang="en-US" sz="1700" dirty="0"/>
          </a:p>
        </p:txBody>
      </p:sp>
      <p:sp>
        <p:nvSpPr>
          <p:cNvPr id="15" name="o-c2-d"/>
          <p:cNvSpPr txBox="1"/>
          <p:nvPr/>
        </p:nvSpPr>
        <p:spPr>
          <a:xfrm>
            <a:off x="8275320" y="4773168"/>
            <a:ext cx="3108960" cy="1280160"/>
          </a:xfrm>
          <a:prstGeom prst="rect">
            <a:avLst/>
          </a:prstGeom>
          <a:noFill/>
          <a:ln/>
        </p:spPr>
        <p:txBody>
          <a:bodyPr wrap="square" lIns="0" tIns="0" rIns="0" bIns="0" rtlCol="0" anchor="t"/>
          <a:lstStyle/>
          <a:p>
            <a:pPr marL="0" indent="0">
              <a:buNone/>
            </a:pPr>
            <a:r>
              <a:rPr lang="en-US" sz="1400" dirty="0">
                <a:solidFill>
                  <a:schemeClr val="tx1"/>
                </a:solidFill>
              </a:rPr>
              <a:t>Learning rate, minimum leaf size and number of trees. The best trial came early (trial 2).</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Final test: about 4% off on unseen flats</a:t>
            </a:r>
            <a:endParaRPr lang="en-US" sz="3200" dirty="0"/>
          </a:p>
        </p:txBody>
      </p:sp>
      <p:graphicFrame>
        <p:nvGraphicFramePr>
          <p:cNvPr id="12" name="r-t"/>
          <p:cNvGraphicFramePr>
            <a:graphicFrameLocks noGrp="1"/>
          </p:cNvGraphicFramePr>
          <p:nvPr>
            <p:extLst>
              <p:ext uri="{D42A27DB-BD31-4B8C-83A1-F6EECF244321}">
                <p14:modId xmlns:p14="http://schemas.microsoft.com/office/powerpoint/2010/main" val="1579011935"/>
              </p:ext>
            </p:extLst>
          </p:nvPr>
        </p:nvGraphicFramePr>
        <p:xfrm>
          <a:off x="548640" y="1371600"/>
          <a:ext cx="7040880" cy="2926080"/>
        </p:xfrm>
        <a:graphic>
          <a:graphicData uri="http://schemas.openxmlformats.org/drawingml/2006/table">
            <a:tbl>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365760">
                <a:tc>
                  <a:txBody>
                    <a:bodyPr/>
                    <a:lstStyle/>
                    <a:p>
                      <a:pPr marL="0" indent="0" algn="l">
                        <a:buNone/>
                      </a:pPr>
                      <a:r>
                        <a:rPr lang="en-US" sz="1400" b="1" dirty="0">
                          <a:solidFill>
                            <a:schemeClr val="bg1"/>
                          </a:solidFill>
                          <a:latin typeface="Calibri" pitchFamily="34" charset="0"/>
                          <a:ea typeface="Calibri" pitchFamily="34" charset="-122"/>
                          <a:cs typeface="Calibri" pitchFamily="34" charset="-120"/>
                        </a:rPr>
                        <a:t>Model (test set, 9,262 flats)</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Calibri" pitchFamily="34" charset="0"/>
                          <a:ea typeface="Calibri" pitchFamily="34" charset="-122"/>
                          <a:cs typeface="Calibri" pitchFamily="34" charset="-120"/>
                        </a:rPr>
                        <a:t>MAE</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Calibri" pitchFamily="34" charset="0"/>
                          <a:ea typeface="Calibri" pitchFamily="34" charset="-122"/>
                          <a:cs typeface="Calibri" pitchFamily="34" charset="-120"/>
                        </a:rPr>
                        <a:t>MAPE</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Calibri" pitchFamily="34" charset="0"/>
                          <a:ea typeface="Calibri" pitchFamily="34" charset="-122"/>
                          <a:cs typeface="Calibri" pitchFamily="34" charset="-120"/>
                        </a:rPr>
                        <a:t>R²</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indent="0" algn="l">
                        <a:buNone/>
                      </a:pPr>
                      <a:r>
                        <a:rPr lang="en-US" sz="1400" b="1" dirty="0">
                          <a:solidFill>
                            <a:schemeClr val="tx1"/>
                          </a:solidFill>
                          <a:latin typeface="Calibri" pitchFamily="34" charset="0"/>
                          <a:ea typeface="Calibri" pitchFamily="34" charset="-122"/>
                          <a:cs typeface="Calibri" pitchFamily="34" charset="-120"/>
                        </a:rPr>
                        <a:t>LightGBM, Optuna-tuned</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BE1D8"/>
                    </a:solidFill>
                  </a:tcPr>
                </a:tc>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S$27,714</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BE1D8"/>
                    </a:solidFill>
                  </a:tcPr>
                </a:tc>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4.16%</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BE1D8"/>
                    </a:solidFill>
                  </a:tcPr>
                </a:tc>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0.963</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BE1D8"/>
                    </a:solidFill>
                  </a:tcPr>
                </a:tc>
                <a:extLst>
                  <a:ext uri="{0D108BD9-81ED-4DB2-BD59-A6C34878D82A}">
                    <a16:rowId xmlns:a16="http://schemas.microsoft.com/office/drawing/2014/main" val="10001"/>
                  </a:ext>
                </a:extLst>
              </a:tr>
              <a:tr h="365760">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FLAML best (LightGBM)</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S$29,088</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4.37%</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0.959</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extLst>
                  <a:ext uri="{0D108BD9-81ED-4DB2-BD59-A6C34878D82A}">
                    <a16:rowId xmlns:a16="http://schemas.microsoft.com/office/drawing/2014/main" val="10002"/>
                  </a:ext>
                </a:extLst>
              </a:tr>
              <a:tr h="365760">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S$29,136</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4.37%</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0.959</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LightGBM, default</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S$32,772</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4.87%</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0.950</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extLst>
                  <a:ext uri="{0D108BD9-81ED-4DB2-BD59-A6C34878D82A}">
                    <a16:rowId xmlns:a16="http://schemas.microsoft.com/office/drawing/2014/main" val="10004"/>
                  </a:ext>
                </a:extLst>
              </a:tr>
              <a:tr h="365760">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Linear regression</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S$47,236</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7.08%</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0.901</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PCA → linear regression</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S$57,508</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8.46%</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0.846</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3F6"/>
                    </a:solidFill>
                  </a:tcPr>
                </a:tc>
                <a:extLst>
                  <a:ext uri="{0D108BD9-81ED-4DB2-BD59-A6C34878D82A}">
                    <a16:rowId xmlns:a16="http://schemas.microsoft.com/office/drawing/2014/main" val="10006"/>
                  </a:ext>
                </a:extLst>
              </a:tr>
              <a:tr h="365760">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Baseline (average price)</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S$161,745</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27.00%</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0.000</a:t>
                      </a:r>
                      <a:endParaRPr lang="en-US" sz="1400" dirty="0">
                        <a:latin typeface="Calibri" charset="0"/>
                        <a:ea typeface="Calibri" charset="0"/>
                        <a:cs typeface="Calibri" charset="0"/>
                      </a:endParaRPr>
                    </a:p>
                  </a:txBody>
                  <a:tcPr marL="101600" marR="101600" marT="50800" marB="5080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r-note"/>
          <p:cNvSpPr txBox="1"/>
          <p:nvPr/>
        </p:nvSpPr>
        <p:spPr>
          <a:xfrm>
            <a:off x="548640" y="4572000"/>
            <a:ext cx="7040880" cy="548640"/>
          </a:xfrm>
          <a:prstGeom prst="rect">
            <a:avLst/>
          </a:prstGeom>
          <a:noFill/>
          <a:ln/>
        </p:spPr>
        <p:txBody>
          <a:bodyPr wrap="square" lIns="0" tIns="0" rIns="0" bIns="0" rtlCol="0" anchor="t"/>
          <a:lstStyle/>
          <a:p>
            <a:pPr marL="0" indent="0">
              <a:buNone/>
            </a:pPr>
            <a:r>
              <a:rPr lang="en-US" sz="1400" b="1" dirty="0">
                <a:solidFill>
                  <a:schemeClr val="tx2"/>
                </a:solidFill>
              </a:rPr>
              <a:t>Overfitting check: every model's test error is within 4% of its cross-validation error, so the CV scores were honest.</a:t>
            </a:r>
            <a:endParaRPr lang="en-US" sz="1400" dirty="0"/>
          </a:p>
        </p:txBody>
      </p:sp>
      <p:sp>
        <p:nvSpPr>
          <p:cNvPr id="5" name="r-crit"/>
          <p:cNvSpPr txBox="1"/>
          <p:nvPr/>
        </p:nvSpPr>
        <p:spPr>
          <a:xfrm>
            <a:off x="548640" y="5212080"/>
            <a:ext cx="7040880" cy="640080"/>
          </a:xfrm>
          <a:prstGeom prst="rect">
            <a:avLst/>
          </a:prstGeom>
          <a:noFill/>
          <a:ln/>
        </p:spPr>
        <p:txBody>
          <a:bodyPr wrap="square" lIns="0" tIns="0" rIns="0" bIns="0" rtlCol="0" anchor="t"/>
          <a:lstStyle/>
          <a:p>
            <a:pPr marL="0" indent="0">
              <a:buNone/>
            </a:pPr>
            <a:r>
              <a:rPr lang="en-US" sz="1400" dirty="0">
                <a:solidFill>
                  <a:schemeClr val="tx1"/>
                </a:solidFill>
              </a:rPr>
              <a:t>Success criteria met: R² ≥ 0.90 ✓   MAPE ≤ 8% ✓   beats baseline and linear regression ✓   no overfitting ✓</a:t>
            </a:r>
            <a:endParaRPr lang="en-US" sz="1400" dirty="0"/>
          </a:p>
        </p:txBody>
      </p:sp>
      <p:sp>
        <p:nvSpPr>
          <p:cNvPr id="6" name="r-s0"/>
          <p:cNvSpPr/>
          <p:nvPr/>
        </p:nvSpPr>
        <p:spPr>
          <a:xfrm>
            <a:off x="7955280" y="1371600"/>
            <a:ext cx="3657600" cy="1417320"/>
          </a:xfrm>
          <a:prstGeom prst="roundRect">
            <a:avLst>
              <a:gd name="adj" fmla="val 7742"/>
            </a:avLst>
          </a:prstGeom>
          <a:solidFill>
            <a:schemeClr val="bg2"/>
          </a:solidFill>
          <a:ln w="12700">
            <a:solidFill>
              <a:schemeClr val="bg2"/>
            </a:solidFill>
            <a:prstDash val="solid"/>
          </a:ln>
        </p:spPr>
        <p:txBody>
          <a:bodyPr/>
          <a:lstStyle/>
          <a:p>
            <a:endParaRPr lang="en-SG"/>
          </a:p>
        </p:txBody>
      </p:sp>
      <p:sp>
        <p:nvSpPr>
          <p:cNvPr id="7" name="r-s0-value"/>
          <p:cNvSpPr txBox="1"/>
          <p:nvPr/>
        </p:nvSpPr>
        <p:spPr>
          <a:xfrm>
            <a:off x="8183880" y="1481328"/>
            <a:ext cx="3291840" cy="731520"/>
          </a:xfrm>
          <a:prstGeom prst="rect">
            <a:avLst/>
          </a:prstGeom>
          <a:noFill/>
          <a:ln/>
        </p:spPr>
        <p:txBody>
          <a:bodyPr wrap="square" lIns="0" tIns="0" rIns="0" bIns="0" rtlCol="0" anchor="ctr"/>
          <a:lstStyle/>
          <a:p>
            <a:pPr marL="0" indent="0">
              <a:buNone/>
            </a:pPr>
            <a:r>
              <a:rPr lang="en-US" sz="3400" b="1" dirty="0">
                <a:solidFill>
                  <a:schemeClr val="accent1"/>
                </a:solidFill>
                <a:latin typeface="Cambria" pitchFamily="34" charset="0"/>
                <a:ea typeface="Cambria" pitchFamily="34" charset="-122"/>
                <a:cs typeface="Cambria" pitchFamily="34" charset="-120"/>
              </a:rPr>
              <a:t>4.2%</a:t>
            </a:r>
            <a:endParaRPr lang="en-US" sz="3400" dirty="0"/>
          </a:p>
        </p:txBody>
      </p:sp>
      <p:sp>
        <p:nvSpPr>
          <p:cNvPr id="8" name="r-s0-label"/>
          <p:cNvSpPr txBox="1"/>
          <p:nvPr/>
        </p:nvSpPr>
        <p:spPr>
          <a:xfrm>
            <a:off x="8183880" y="2212848"/>
            <a:ext cx="3291840" cy="548640"/>
          </a:xfrm>
          <a:prstGeom prst="rect">
            <a:avLst/>
          </a:prstGeom>
          <a:noFill/>
          <a:ln/>
        </p:spPr>
        <p:txBody>
          <a:bodyPr wrap="square" lIns="0" tIns="0" rIns="0" bIns="0" rtlCol="0" anchor="t"/>
          <a:lstStyle/>
          <a:p>
            <a:pPr marL="0" indent="0">
              <a:buNone/>
            </a:pPr>
            <a:r>
              <a:rPr lang="en-US" sz="1400" dirty="0">
                <a:solidFill>
                  <a:schemeClr val="tx1"/>
                </a:solidFill>
              </a:rPr>
              <a:t>average error (MAPE)</a:t>
            </a:r>
            <a:endParaRPr lang="en-US" sz="1400" dirty="0"/>
          </a:p>
        </p:txBody>
      </p:sp>
      <p:sp>
        <p:nvSpPr>
          <p:cNvPr id="9" name="r-s1"/>
          <p:cNvSpPr/>
          <p:nvPr/>
        </p:nvSpPr>
        <p:spPr>
          <a:xfrm>
            <a:off x="7955280" y="2971800"/>
            <a:ext cx="3657600" cy="1417320"/>
          </a:xfrm>
          <a:prstGeom prst="roundRect">
            <a:avLst>
              <a:gd name="adj" fmla="val 7742"/>
            </a:avLst>
          </a:prstGeom>
          <a:solidFill>
            <a:schemeClr val="bg2"/>
          </a:solidFill>
          <a:ln w="12700">
            <a:solidFill>
              <a:schemeClr val="bg2"/>
            </a:solidFill>
            <a:prstDash val="solid"/>
          </a:ln>
        </p:spPr>
        <p:txBody>
          <a:bodyPr/>
          <a:lstStyle/>
          <a:p>
            <a:endParaRPr lang="en-SG"/>
          </a:p>
        </p:txBody>
      </p:sp>
      <p:sp>
        <p:nvSpPr>
          <p:cNvPr id="10" name="r-s1-value"/>
          <p:cNvSpPr txBox="1"/>
          <p:nvPr/>
        </p:nvSpPr>
        <p:spPr>
          <a:xfrm>
            <a:off x="8183880" y="3081528"/>
            <a:ext cx="3291840" cy="731520"/>
          </a:xfrm>
          <a:prstGeom prst="rect">
            <a:avLst/>
          </a:prstGeom>
          <a:noFill/>
          <a:ln/>
        </p:spPr>
        <p:txBody>
          <a:bodyPr wrap="square" lIns="0" tIns="0" rIns="0" bIns="0" rtlCol="0" anchor="ctr"/>
          <a:lstStyle/>
          <a:p>
            <a:pPr marL="0" indent="0">
              <a:buNone/>
            </a:pPr>
            <a:r>
              <a:rPr lang="en-US" sz="3400" b="1" dirty="0">
                <a:solidFill>
                  <a:schemeClr val="accent1"/>
                </a:solidFill>
                <a:latin typeface="Cambria" pitchFamily="34" charset="0"/>
                <a:ea typeface="Cambria" pitchFamily="34" charset="-122"/>
                <a:cs typeface="Cambria" pitchFamily="34" charset="-120"/>
              </a:rPr>
              <a:t>0.963</a:t>
            </a:r>
            <a:endParaRPr lang="en-US" sz="3400" dirty="0"/>
          </a:p>
        </p:txBody>
      </p:sp>
      <p:sp>
        <p:nvSpPr>
          <p:cNvPr id="11" name="r-s1-label"/>
          <p:cNvSpPr txBox="1"/>
          <p:nvPr/>
        </p:nvSpPr>
        <p:spPr>
          <a:xfrm>
            <a:off x="8183880" y="3813048"/>
            <a:ext cx="3291840" cy="548640"/>
          </a:xfrm>
          <a:prstGeom prst="rect">
            <a:avLst/>
          </a:prstGeom>
          <a:noFill/>
          <a:ln/>
        </p:spPr>
        <p:txBody>
          <a:bodyPr wrap="square" lIns="0" tIns="0" rIns="0" bIns="0" rtlCol="0" anchor="t"/>
          <a:lstStyle/>
          <a:p>
            <a:pPr marL="0" indent="0">
              <a:buNone/>
            </a:pPr>
            <a:r>
              <a:rPr lang="en-US" sz="1400" dirty="0">
                <a:solidFill>
                  <a:schemeClr val="tx1"/>
                </a:solidFill>
              </a:rPr>
              <a:t>R²: explains 96% of price differences</a:t>
            </a:r>
            <a:endParaRPr lang="en-US" sz="1400" dirty="0"/>
          </a:p>
        </p:txBody>
      </p:sp>
      <p:sp>
        <p:nvSpPr>
          <p:cNvPr id="3" name="r-s2"/>
          <p:cNvSpPr/>
          <p:nvPr/>
        </p:nvSpPr>
        <p:spPr>
          <a:xfrm>
            <a:off x="7955280" y="4572000"/>
            <a:ext cx="3657600" cy="1417320"/>
          </a:xfrm>
          <a:prstGeom prst="roundRect">
            <a:avLst>
              <a:gd name="adj" fmla="val 7742"/>
            </a:avLst>
          </a:prstGeom>
          <a:solidFill>
            <a:schemeClr val="bg2"/>
          </a:solidFill>
          <a:ln w="12700">
            <a:solidFill>
              <a:schemeClr val="bg2"/>
            </a:solidFill>
            <a:prstDash val="solid"/>
          </a:ln>
        </p:spPr>
        <p:txBody>
          <a:bodyPr/>
          <a:lstStyle/>
          <a:p>
            <a:endParaRPr lang="en-SG"/>
          </a:p>
        </p:txBody>
      </p:sp>
      <p:sp>
        <p:nvSpPr>
          <p:cNvPr id="13" name="r-s2-value"/>
          <p:cNvSpPr txBox="1"/>
          <p:nvPr/>
        </p:nvSpPr>
        <p:spPr>
          <a:xfrm>
            <a:off x="8183880" y="4681728"/>
            <a:ext cx="3291840" cy="731520"/>
          </a:xfrm>
          <a:prstGeom prst="rect">
            <a:avLst/>
          </a:prstGeom>
          <a:noFill/>
          <a:ln/>
        </p:spPr>
        <p:txBody>
          <a:bodyPr wrap="square" lIns="0" tIns="0" rIns="0" bIns="0" rtlCol="0" anchor="ctr"/>
          <a:lstStyle/>
          <a:p>
            <a:pPr marL="0" indent="0">
              <a:buNone/>
            </a:pPr>
            <a:r>
              <a:rPr lang="en-US" sz="3400" b="1" dirty="0">
                <a:solidFill>
                  <a:schemeClr val="accent1"/>
                </a:solidFill>
                <a:latin typeface="Cambria" pitchFamily="34" charset="0"/>
                <a:ea typeface="Cambria" pitchFamily="34" charset="-122"/>
                <a:cs typeface="Cambria" pitchFamily="34" charset="-120"/>
              </a:rPr>
              <a:t>S$19.7k</a:t>
            </a:r>
            <a:endParaRPr lang="en-US" sz="3400" dirty="0"/>
          </a:p>
        </p:txBody>
      </p:sp>
      <p:sp>
        <p:nvSpPr>
          <p:cNvPr id="14" name="r-s2-label"/>
          <p:cNvSpPr txBox="1"/>
          <p:nvPr/>
        </p:nvSpPr>
        <p:spPr>
          <a:xfrm>
            <a:off x="8183880" y="5413248"/>
            <a:ext cx="3291840" cy="548640"/>
          </a:xfrm>
          <a:prstGeom prst="rect">
            <a:avLst/>
          </a:prstGeom>
          <a:noFill/>
          <a:ln/>
        </p:spPr>
        <p:txBody>
          <a:bodyPr wrap="square" lIns="0" tIns="0" rIns="0" bIns="0" rtlCol="0" anchor="t"/>
          <a:lstStyle/>
          <a:p>
            <a:pPr marL="0" indent="0">
              <a:buNone/>
            </a:pPr>
            <a:r>
              <a:rPr lang="en-US" sz="1400" dirty="0">
                <a:solidFill>
                  <a:schemeClr val="tx1"/>
                </a:solidFill>
              </a:rPr>
              <a:t>half of flats priced within this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SHAP: size, location and lease set the price</a:t>
            </a:r>
            <a:endParaRPr lang="en-US" sz="3200" dirty="0"/>
          </a:p>
        </p:txBody>
      </p:sp>
      <p:pic>
        <p:nvPicPr>
          <p:cNvPr id="3" name="sh-img" descr="/home/claude/hdb-resale-ml/figures/14_shap_summary.png"/>
          <p:cNvPicPr>
            <a:picLocks noChangeAspect="1"/>
          </p:cNvPicPr>
          <p:nvPr/>
        </p:nvPicPr>
        <p:blipFill>
          <a:blip r:embed="rId3"/>
          <a:stretch>
            <a:fillRect/>
          </a:stretch>
        </p:blipFill>
        <p:spPr>
          <a:xfrm>
            <a:off x="548640" y="1234440"/>
            <a:ext cx="6035040" cy="4015641"/>
          </a:xfrm>
          <a:prstGeom prst="rect">
            <a:avLst/>
          </a:prstGeom>
        </p:spPr>
      </p:pic>
      <p:sp>
        <p:nvSpPr>
          <p:cNvPr id="4" name="sh0-circle"/>
          <p:cNvSpPr/>
          <p:nvPr/>
        </p:nvSpPr>
        <p:spPr>
          <a:xfrm>
            <a:off x="6903720" y="1325880"/>
            <a:ext cx="548640" cy="548640"/>
          </a:xfrm>
          <a:prstGeom prst="ellipse">
            <a:avLst/>
          </a:prstGeom>
          <a:solidFill>
            <a:schemeClr val="accent1"/>
          </a:solidFill>
          <a:ln w="12700">
            <a:solidFill>
              <a:schemeClr val="accent1"/>
            </a:solidFill>
            <a:prstDash val="solid"/>
          </a:ln>
        </p:spPr>
        <p:txBody>
          <a:bodyPr/>
          <a:lstStyle/>
          <a:p>
            <a:endParaRPr lang="en-SG"/>
          </a:p>
        </p:txBody>
      </p:sp>
      <p:pic>
        <p:nvPicPr>
          <p:cNvPr id="5" name="sh0-icon" descr="preencoded.png"/>
          <p:cNvPicPr>
            <a:picLocks noChangeAspect="1"/>
          </p:cNvPicPr>
          <p:nvPr/>
        </p:nvPicPr>
        <p:blipFill>
          <a:blip r:embed="rId4"/>
          <a:stretch>
            <a:fillRect/>
          </a:stretch>
        </p:blipFill>
        <p:spPr>
          <a:xfrm>
            <a:off x="7046366" y="1468526"/>
            <a:ext cx="263347" cy="263347"/>
          </a:xfrm>
          <a:prstGeom prst="rect">
            <a:avLst/>
          </a:prstGeom>
        </p:spPr>
      </p:pic>
      <p:sp>
        <p:nvSpPr>
          <p:cNvPr id="6" name="sh0-h"/>
          <p:cNvSpPr txBox="1"/>
          <p:nvPr/>
        </p:nvSpPr>
        <p:spPr>
          <a:xfrm>
            <a:off x="7635240" y="1289304"/>
            <a:ext cx="3977640" cy="347472"/>
          </a:xfrm>
          <a:prstGeom prst="rect">
            <a:avLst/>
          </a:prstGeom>
          <a:noFill/>
          <a:ln/>
        </p:spPr>
        <p:txBody>
          <a:bodyPr wrap="square" lIns="0" tIns="0" rIns="0" bIns="0" rtlCol="0" anchor="t"/>
          <a:lstStyle/>
          <a:p>
            <a:pPr marL="0" indent="0">
              <a:buNone/>
            </a:pPr>
            <a:r>
              <a:rPr lang="en-US" sz="1600" b="1" dirty="0">
                <a:solidFill>
                  <a:schemeClr val="tx2"/>
                </a:solidFill>
              </a:rPr>
              <a:t>Floor area</a:t>
            </a:r>
            <a:endParaRPr lang="en-US" sz="1600" dirty="0"/>
          </a:p>
        </p:txBody>
      </p:sp>
      <p:sp>
        <p:nvSpPr>
          <p:cNvPr id="7" name="sh0-d"/>
          <p:cNvSpPr txBox="1"/>
          <p:nvPr/>
        </p:nvSpPr>
        <p:spPr>
          <a:xfrm>
            <a:off x="7635240" y="1636776"/>
            <a:ext cx="3977640" cy="731520"/>
          </a:xfrm>
          <a:prstGeom prst="rect">
            <a:avLst/>
          </a:prstGeom>
          <a:noFill/>
          <a:ln/>
        </p:spPr>
        <p:txBody>
          <a:bodyPr wrap="square" lIns="0" tIns="0" rIns="0" bIns="0" rtlCol="0" anchor="t"/>
          <a:lstStyle/>
          <a:p>
            <a:pPr marL="0" indent="0">
              <a:buNone/>
            </a:pPr>
            <a:r>
              <a:rPr lang="en-US" sz="1400" dirty="0">
                <a:solidFill>
                  <a:schemeClr val="tx1"/>
                </a:solidFill>
              </a:rPr>
              <a:t>Each extra 10 sqm adds about 6% to the price.</a:t>
            </a:r>
            <a:endParaRPr lang="en-US" sz="1400" dirty="0"/>
          </a:p>
        </p:txBody>
      </p:sp>
      <p:sp>
        <p:nvSpPr>
          <p:cNvPr id="8" name="sh1-circle"/>
          <p:cNvSpPr/>
          <p:nvPr/>
        </p:nvSpPr>
        <p:spPr>
          <a:xfrm>
            <a:off x="6903720" y="2514600"/>
            <a:ext cx="548640" cy="548640"/>
          </a:xfrm>
          <a:prstGeom prst="ellipse">
            <a:avLst/>
          </a:prstGeom>
          <a:solidFill>
            <a:schemeClr val="tx2"/>
          </a:solidFill>
          <a:ln w="12700">
            <a:solidFill>
              <a:schemeClr val="tx2"/>
            </a:solidFill>
            <a:prstDash val="solid"/>
          </a:ln>
        </p:spPr>
        <p:txBody>
          <a:bodyPr/>
          <a:lstStyle/>
          <a:p>
            <a:endParaRPr lang="en-SG"/>
          </a:p>
        </p:txBody>
      </p:sp>
      <p:pic>
        <p:nvPicPr>
          <p:cNvPr id="9" name="sh1-icon" descr="preencoded.png"/>
          <p:cNvPicPr>
            <a:picLocks noChangeAspect="1"/>
          </p:cNvPicPr>
          <p:nvPr/>
        </p:nvPicPr>
        <p:blipFill>
          <a:blip r:embed="rId5"/>
          <a:stretch>
            <a:fillRect/>
          </a:stretch>
        </p:blipFill>
        <p:spPr>
          <a:xfrm>
            <a:off x="7046366" y="2657246"/>
            <a:ext cx="263347" cy="263347"/>
          </a:xfrm>
          <a:prstGeom prst="rect">
            <a:avLst/>
          </a:prstGeom>
        </p:spPr>
      </p:pic>
      <p:sp>
        <p:nvSpPr>
          <p:cNvPr id="10" name="sh1-h"/>
          <p:cNvSpPr txBox="1"/>
          <p:nvPr/>
        </p:nvSpPr>
        <p:spPr>
          <a:xfrm>
            <a:off x="7635240" y="2478024"/>
            <a:ext cx="3977640" cy="347472"/>
          </a:xfrm>
          <a:prstGeom prst="rect">
            <a:avLst/>
          </a:prstGeom>
          <a:noFill/>
          <a:ln/>
        </p:spPr>
        <p:txBody>
          <a:bodyPr wrap="square" lIns="0" tIns="0" rIns="0" bIns="0" rtlCol="0" anchor="t"/>
          <a:lstStyle/>
          <a:p>
            <a:pPr marL="0" indent="0">
              <a:buNone/>
            </a:pPr>
            <a:r>
              <a:rPr lang="en-US" sz="1600" b="1" dirty="0">
                <a:solidFill>
                  <a:schemeClr val="tx2"/>
                </a:solidFill>
              </a:rPr>
              <a:t>Mature estate</a:t>
            </a:r>
            <a:endParaRPr lang="en-US" sz="1600" dirty="0"/>
          </a:p>
        </p:txBody>
      </p:sp>
      <p:sp>
        <p:nvSpPr>
          <p:cNvPr id="11" name="sh1-d"/>
          <p:cNvSpPr txBox="1"/>
          <p:nvPr/>
        </p:nvSpPr>
        <p:spPr>
          <a:xfrm>
            <a:off x="7635240" y="2825496"/>
            <a:ext cx="3977640" cy="731520"/>
          </a:xfrm>
          <a:prstGeom prst="rect">
            <a:avLst/>
          </a:prstGeom>
          <a:noFill/>
          <a:ln/>
        </p:spPr>
        <p:txBody>
          <a:bodyPr wrap="square" lIns="0" tIns="0" rIns="0" bIns="0" rtlCol="0" anchor="t"/>
          <a:lstStyle/>
          <a:p>
            <a:pPr marL="0" indent="0">
              <a:buNone/>
            </a:pPr>
            <a:r>
              <a:rPr lang="en-US" sz="1400" dirty="0">
                <a:solidFill>
                  <a:schemeClr val="tx1"/>
                </a:solidFill>
              </a:rPr>
              <a:t>Adds about 10–20%; non-mature towns about −10%.</a:t>
            </a:r>
            <a:endParaRPr lang="en-US" sz="1400" dirty="0"/>
          </a:p>
        </p:txBody>
      </p:sp>
      <p:sp>
        <p:nvSpPr>
          <p:cNvPr id="12" name="sh2-circle"/>
          <p:cNvSpPr/>
          <p:nvPr/>
        </p:nvSpPr>
        <p:spPr>
          <a:xfrm>
            <a:off x="6903720" y="3703320"/>
            <a:ext cx="548640" cy="548640"/>
          </a:xfrm>
          <a:prstGeom prst="ellipse">
            <a:avLst/>
          </a:prstGeom>
          <a:solidFill>
            <a:schemeClr val="tx2"/>
          </a:solidFill>
          <a:ln w="12700">
            <a:solidFill>
              <a:schemeClr val="tx2"/>
            </a:solidFill>
            <a:prstDash val="solid"/>
          </a:ln>
        </p:spPr>
        <p:txBody>
          <a:bodyPr/>
          <a:lstStyle/>
          <a:p>
            <a:endParaRPr lang="en-SG"/>
          </a:p>
        </p:txBody>
      </p:sp>
      <p:pic>
        <p:nvPicPr>
          <p:cNvPr id="13" name="sh2-icon" descr="preencoded.png"/>
          <p:cNvPicPr>
            <a:picLocks noChangeAspect="1"/>
          </p:cNvPicPr>
          <p:nvPr/>
        </p:nvPicPr>
        <p:blipFill>
          <a:blip r:embed="rId6"/>
          <a:stretch>
            <a:fillRect/>
          </a:stretch>
        </p:blipFill>
        <p:spPr>
          <a:xfrm>
            <a:off x="7046366" y="3845966"/>
            <a:ext cx="263347" cy="263347"/>
          </a:xfrm>
          <a:prstGeom prst="rect">
            <a:avLst/>
          </a:prstGeom>
        </p:spPr>
      </p:pic>
      <p:sp>
        <p:nvSpPr>
          <p:cNvPr id="14" name="sh2-h"/>
          <p:cNvSpPr txBox="1"/>
          <p:nvPr/>
        </p:nvSpPr>
        <p:spPr>
          <a:xfrm>
            <a:off x="7635240" y="3666744"/>
            <a:ext cx="3977640" cy="347472"/>
          </a:xfrm>
          <a:prstGeom prst="rect">
            <a:avLst/>
          </a:prstGeom>
          <a:noFill/>
          <a:ln/>
        </p:spPr>
        <p:txBody>
          <a:bodyPr wrap="square" lIns="0" tIns="0" rIns="0" bIns="0" rtlCol="0" anchor="t"/>
          <a:lstStyle/>
          <a:p>
            <a:pPr marL="0" indent="0">
              <a:buNone/>
            </a:pPr>
            <a:r>
              <a:rPr lang="en-US" sz="1600" b="1" dirty="0">
                <a:solidFill>
                  <a:schemeClr val="tx2"/>
                </a:solidFill>
              </a:rPr>
              <a:t>Remaining lease</a:t>
            </a:r>
            <a:endParaRPr lang="en-US" sz="1600" dirty="0"/>
          </a:p>
        </p:txBody>
      </p:sp>
      <p:sp>
        <p:nvSpPr>
          <p:cNvPr id="15" name="sh2-d"/>
          <p:cNvSpPr txBox="1"/>
          <p:nvPr/>
        </p:nvSpPr>
        <p:spPr>
          <a:xfrm>
            <a:off x="7635240" y="4014216"/>
            <a:ext cx="3977640" cy="731520"/>
          </a:xfrm>
          <a:prstGeom prst="rect">
            <a:avLst/>
          </a:prstGeom>
          <a:noFill/>
          <a:ln/>
        </p:spPr>
        <p:txBody>
          <a:bodyPr wrap="square" lIns="0" tIns="0" rIns="0" bIns="0" rtlCol="0" anchor="t"/>
          <a:lstStyle/>
          <a:p>
            <a:pPr marL="0" indent="0">
              <a:buNone/>
            </a:pPr>
            <a:r>
              <a:rPr lang="en-US" sz="1400" dirty="0">
                <a:solidFill>
                  <a:schemeClr val="tx1"/>
                </a:solidFill>
              </a:rPr>
              <a:t>Slow rise, then a clear premium above 85 years left.</a:t>
            </a:r>
            <a:endParaRPr lang="en-US" sz="1400" dirty="0"/>
          </a:p>
        </p:txBody>
      </p:sp>
      <p:sp>
        <p:nvSpPr>
          <p:cNvPr id="16" name="sh3-circle"/>
          <p:cNvSpPr/>
          <p:nvPr/>
        </p:nvSpPr>
        <p:spPr>
          <a:xfrm>
            <a:off x="6903720" y="4892040"/>
            <a:ext cx="548640" cy="548640"/>
          </a:xfrm>
          <a:prstGeom prst="ellipse">
            <a:avLst/>
          </a:prstGeom>
          <a:solidFill>
            <a:schemeClr val="tx2"/>
          </a:solidFill>
          <a:ln w="12700">
            <a:solidFill>
              <a:schemeClr val="tx2"/>
            </a:solidFill>
            <a:prstDash val="solid"/>
          </a:ln>
        </p:spPr>
        <p:txBody>
          <a:bodyPr/>
          <a:lstStyle/>
          <a:p>
            <a:endParaRPr lang="en-SG"/>
          </a:p>
        </p:txBody>
      </p:sp>
      <p:pic>
        <p:nvPicPr>
          <p:cNvPr id="17" name="sh3-icon" descr="preencoded.png"/>
          <p:cNvPicPr>
            <a:picLocks noChangeAspect="1"/>
          </p:cNvPicPr>
          <p:nvPr/>
        </p:nvPicPr>
        <p:blipFill>
          <a:blip r:embed="rId7"/>
          <a:stretch>
            <a:fillRect/>
          </a:stretch>
        </p:blipFill>
        <p:spPr>
          <a:xfrm>
            <a:off x="7046366" y="5034686"/>
            <a:ext cx="263347" cy="263347"/>
          </a:xfrm>
          <a:prstGeom prst="rect">
            <a:avLst/>
          </a:prstGeom>
        </p:spPr>
      </p:pic>
      <p:sp>
        <p:nvSpPr>
          <p:cNvPr id="18" name="sh3-h"/>
          <p:cNvSpPr txBox="1"/>
          <p:nvPr/>
        </p:nvSpPr>
        <p:spPr>
          <a:xfrm>
            <a:off x="7635240" y="4855464"/>
            <a:ext cx="3977640" cy="347472"/>
          </a:xfrm>
          <a:prstGeom prst="rect">
            <a:avLst/>
          </a:prstGeom>
          <a:noFill/>
          <a:ln/>
        </p:spPr>
        <p:txBody>
          <a:bodyPr wrap="square" lIns="0" tIns="0" rIns="0" bIns="0" rtlCol="0" anchor="t"/>
          <a:lstStyle/>
          <a:p>
            <a:pPr marL="0" indent="0">
              <a:buNone/>
            </a:pPr>
            <a:r>
              <a:rPr lang="en-US" sz="1600" b="1" dirty="0">
                <a:solidFill>
                  <a:schemeClr val="tx2"/>
                </a:solidFill>
              </a:rPr>
              <a:t>Floor height</a:t>
            </a:r>
            <a:endParaRPr lang="en-US" sz="1600" dirty="0"/>
          </a:p>
        </p:txBody>
      </p:sp>
      <p:sp>
        <p:nvSpPr>
          <p:cNvPr id="19" name="sh3-d"/>
          <p:cNvSpPr txBox="1"/>
          <p:nvPr/>
        </p:nvSpPr>
        <p:spPr>
          <a:xfrm>
            <a:off x="7635240" y="5202936"/>
            <a:ext cx="3977640" cy="731520"/>
          </a:xfrm>
          <a:prstGeom prst="rect">
            <a:avLst/>
          </a:prstGeom>
          <a:noFill/>
          <a:ln/>
        </p:spPr>
        <p:txBody>
          <a:bodyPr wrap="square" lIns="0" tIns="0" rIns="0" bIns="0" rtlCol="0" anchor="t"/>
          <a:lstStyle/>
          <a:p>
            <a:pPr marL="0" indent="0">
              <a:buNone/>
            </a:pPr>
            <a:r>
              <a:rPr lang="en-US" sz="1400" dirty="0">
                <a:solidFill>
                  <a:schemeClr val="tx1"/>
                </a:solidFill>
              </a:rPr>
              <a:t>Low floors about −8%, the highest about +15%.</a:t>
            </a:r>
            <a:endParaRPr lang="en-US" sz="1400" dirty="0"/>
          </a:p>
        </p:txBody>
      </p:sp>
      <p:sp>
        <p:nvSpPr>
          <p:cNvPr id="20" name="sh-x"/>
          <p:cNvSpPr txBox="1"/>
          <p:nvPr/>
        </p:nvSpPr>
        <p:spPr>
          <a:xfrm>
            <a:off x="6903720" y="5852160"/>
            <a:ext cx="4709160" cy="411480"/>
          </a:xfrm>
          <a:prstGeom prst="rect">
            <a:avLst/>
          </a:prstGeom>
          <a:noFill/>
          <a:ln/>
        </p:spPr>
        <p:txBody>
          <a:bodyPr wrap="square" lIns="0" tIns="0" rIns="0" bIns="0" rtlCol="0" anchor="t"/>
          <a:lstStyle/>
          <a:p>
            <a:pPr marL="0" indent="0">
              <a:buNone/>
            </a:pPr>
            <a:r>
              <a:rPr lang="en-US" sz="1200" dirty="0">
                <a:solidFill>
                  <a:schemeClr val="accent3"/>
                </a:solidFill>
              </a:rPr>
              <a:t>Cross-checked: permutation importance and linear-regression effects rank the same top three.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One flat at a time, and what the data cannot see</a:t>
            </a:r>
            <a:endParaRPr lang="en-US" sz="3200" dirty="0"/>
          </a:p>
        </p:txBody>
      </p:sp>
      <p:pic>
        <p:nvPicPr>
          <p:cNvPr id="3" name="lc-img" descr="/home/claude/hdb-resale-ml/figures/18_shap_waterfall_worst.png"/>
          <p:cNvPicPr>
            <a:picLocks noChangeAspect="1"/>
          </p:cNvPicPr>
          <p:nvPr/>
        </p:nvPicPr>
        <p:blipFill>
          <a:blip r:embed="rId3"/>
          <a:stretch>
            <a:fillRect/>
          </a:stretch>
        </p:blipFill>
        <p:spPr>
          <a:xfrm>
            <a:off x="548640" y="1280160"/>
            <a:ext cx="5852160" cy="3337718"/>
          </a:xfrm>
          <a:prstGeom prst="rect">
            <a:avLst/>
          </a:prstGeom>
        </p:spPr>
      </p:pic>
      <p:sp>
        <p:nvSpPr>
          <p:cNvPr id="4" name="lc-cap"/>
          <p:cNvSpPr txBox="1"/>
          <p:nvPr/>
        </p:nvSpPr>
        <p:spPr>
          <a:xfrm>
            <a:off x="548640" y="4892040"/>
            <a:ext cx="5852160" cy="640080"/>
          </a:xfrm>
          <a:prstGeom prst="rect">
            <a:avLst/>
          </a:prstGeom>
          <a:noFill/>
          <a:ln/>
        </p:spPr>
        <p:txBody>
          <a:bodyPr wrap="square" lIns="0" tIns="0" rIns="0" bIns="0" rtlCol="0" anchor="t"/>
          <a:lstStyle/>
          <a:p>
            <a:pPr marL="0" indent="0">
              <a:buNone/>
            </a:pPr>
            <a:r>
              <a:rPr lang="en-US" sz="1300" dirty="0">
                <a:solidFill>
                  <a:schemeClr val="accent3"/>
                </a:solidFill>
              </a:rPr>
              <a:t>Biggest error: a 5-room Improved flat in Bukit Merah, 115 sqm. Sold for S$825,888; predicted S$1,103,498.</a:t>
            </a:r>
            <a:endParaRPr lang="en-US" sz="1300" dirty="0"/>
          </a:p>
        </p:txBody>
      </p:sp>
      <p:sp>
        <p:nvSpPr>
          <p:cNvPr id="5" name="lc-c1"/>
          <p:cNvSpPr/>
          <p:nvPr/>
        </p:nvSpPr>
        <p:spPr>
          <a:xfrm>
            <a:off x="6766560" y="1325880"/>
            <a:ext cx="4846320" cy="2148840"/>
          </a:xfrm>
          <a:prstGeom prst="roundRect">
            <a:avLst>
              <a:gd name="adj" fmla="val 5106"/>
            </a:avLst>
          </a:prstGeom>
          <a:solidFill>
            <a:schemeClr val="bg2"/>
          </a:solidFill>
          <a:ln w="12700">
            <a:solidFill>
              <a:schemeClr val="bg2"/>
            </a:solidFill>
            <a:prstDash val="solid"/>
          </a:ln>
        </p:spPr>
        <p:txBody>
          <a:bodyPr/>
          <a:lstStyle/>
          <a:p>
            <a:endParaRPr lang="en-SG"/>
          </a:p>
        </p:txBody>
      </p:sp>
      <p:sp>
        <p:nvSpPr>
          <p:cNvPr id="6" name="lc-c1-circle"/>
          <p:cNvSpPr/>
          <p:nvPr/>
        </p:nvSpPr>
        <p:spPr>
          <a:xfrm>
            <a:off x="6995160" y="1508760"/>
            <a:ext cx="548640" cy="548640"/>
          </a:xfrm>
          <a:prstGeom prst="ellipse">
            <a:avLst/>
          </a:prstGeom>
          <a:solidFill>
            <a:schemeClr val="tx2"/>
          </a:solidFill>
          <a:ln w="12700">
            <a:solidFill>
              <a:schemeClr val="tx2"/>
            </a:solidFill>
            <a:prstDash val="solid"/>
          </a:ln>
        </p:spPr>
        <p:txBody>
          <a:bodyPr/>
          <a:lstStyle/>
          <a:p>
            <a:endParaRPr lang="en-SG"/>
          </a:p>
        </p:txBody>
      </p:sp>
      <p:pic>
        <p:nvPicPr>
          <p:cNvPr id="7" name="lc-c1-icon" descr="preencoded.png"/>
          <p:cNvPicPr>
            <a:picLocks noChangeAspect="1"/>
          </p:cNvPicPr>
          <p:nvPr/>
        </p:nvPicPr>
        <p:blipFill>
          <a:blip r:embed="rId4"/>
          <a:stretch>
            <a:fillRect/>
          </a:stretch>
        </p:blipFill>
        <p:spPr>
          <a:xfrm>
            <a:off x="7137806" y="1651406"/>
            <a:ext cx="263347" cy="263347"/>
          </a:xfrm>
          <a:prstGeom prst="rect">
            <a:avLst/>
          </a:prstGeom>
        </p:spPr>
      </p:pic>
      <p:sp>
        <p:nvSpPr>
          <p:cNvPr id="8" name="lc-c1-h"/>
          <p:cNvSpPr txBox="1"/>
          <p:nvPr/>
        </p:nvSpPr>
        <p:spPr>
          <a:xfrm>
            <a:off x="7726680" y="1508760"/>
            <a:ext cx="3749040" cy="365760"/>
          </a:xfrm>
          <a:prstGeom prst="rect">
            <a:avLst/>
          </a:prstGeom>
          <a:noFill/>
          <a:ln/>
        </p:spPr>
        <p:txBody>
          <a:bodyPr wrap="square" lIns="0" tIns="0" rIns="0" bIns="0" rtlCol="0" anchor="t"/>
          <a:lstStyle/>
          <a:p>
            <a:pPr marL="0" indent="0">
              <a:buNone/>
            </a:pPr>
            <a:r>
              <a:rPr lang="en-US" sz="1700" b="1" dirty="0">
                <a:solidFill>
                  <a:schemeClr val="tx2"/>
                </a:solidFill>
              </a:rPr>
              <a:t>A typical flat</a:t>
            </a:r>
            <a:endParaRPr lang="en-US" sz="1700" dirty="0"/>
          </a:p>
        </p:txBody>
      </p:sp>
      <p:sp>
        <p:nvSpPr>
          <p:cNvPr id="9" name="lc-c1-d"/>
          <p:cNvSpPr txBox="1"/>
          <p:nvPr/>
        </p:nvSpPr>
        <p:spPr>
          <a:xfrm>
            <a:off x="7726680" y="1901952"/>
            <a:ext cx="3749040" cy="1463040"/>
          </a:xfrm>
          <a:prstGeom prst="rect">
            <a:avLst/>
          </a:prstGeom>
          <a:noFill/>
          <a:ln/>
        </p:spPr>
        <p:txBody>
          <a:bodyPr wrap="square" lIns="0" tIns="0" rIns="0" bIns="0" rtlCol="0" anchor="t"/>
          <a:lstStyle/>
          <a:p>
            <a:pPr marL="0" indent="0">
              <a:buNone/>
            </a:pPr>
            <a:r>
              <a:rPr lang="en-US" sz="1400" dirty="0">
                <a:solidFill>
                  <a:schemeClr val="tx1"/>
                </a:solidFill>
              </a:rPr>
              <a:t>4-room in Woodlands, 90 sqm: sold S$536,888, predicted S$520,431 (3% off). Main reason it's below average: not a mature estate (about −10%).</a:t>
            </a:r>
            <a:endParaRPr lang="en-US" sz="1400" dirty="0"/>
          </a:p>
        </p:txBody>
      </p:sp>
      <p:sp>
        <p:nvSpPr>
          <p:cNvPr id="10" name="lc-c2"/>
          <p:cNvSpPr/>
          <p:nvPr/>
        </p:nvSpPr>
        <p:spPr>
          <a:xfrm>
            <a:off x="6766560" y="3657600"/>
            <a:ext cx="4846320" cy="2468880"/>
          </a:xfrm>
          <a:prstGeom prst="roundRect">
            <a:avLst>
              <a:gd name="adj" fmla="val 4444"/>
            </a:avLst>
          </a:prstGeom>
          <a:solidFill>
            <a:schemeClr val="bg2"/>
          </a:solidFill>
          <a:ln w="12700">
            <a:solidFill>
              <a:schemeClr val="bg2"/>
            </a:solidFill>
            <a:prstDash val="solid"/>
          </a:ln>
        </p:spPr>
        <p:txBody>
          <a:bodyPr/>
          <a:lstStyle/>
          <a:p>
            <a:endParaRPr lang="en-SG"/>
          </a:p>
        </p:txBody>
      </p:sp>
      <p:sp>
        <p:nvSpPr>
          <p:cNvPr id="11" name="lc-c2-circle"/>
          <p:cNvSpPr/>
          <p:nvPr/>
        </p:nvSpPr>
        <p:spPr>
          <a:xfrm>
            <a:off x="6995160" y="3840480"/>
            <a:ext cx="548640" cy="548640"/>
          </a:xfrm>
          <a:prstGeom prst="ellipse">
            <a:avLst/>
          </a:prstGeom>
          <a:solidFill>
            <a:schemeClr val="accent1"/>
          </a:solidFill>
          <a:ln w="12700">
            <a:solidFill>
              <a:schemeClr val="accent1"/>
            </a:solidFill>
            <a:prstDash val="solid"/>
          </a:ln>
        </p:spPr>
        <p:txBody>
          <a:bodyPr/>
          <a:lstStyle/>
          <a:p>
            <a:endParaRPr lang="en-SG"/>
          </a:p>
        </p:txBody>
      </p:sp>
      <p:pic>
        <p:nvPicPr>
          <p:cNvPr id="12" name="lc-c2-icon" descr="preencoded.png"/>
          <p:cNvPicPr>
            <a:picLocks noChangeAspect="1"/>
          </p:cNvPicPr>
          <p:nvPr/>
        </p:nvPicPr>
        <p:blipFill>
          <a:blip r:embed="rId5"/>
          <a:stretch>
            <a:fillRect/>
          </a:stretch>
        </p:blipFill>
        <p:spPr>
          <a:xfrm>
            <a:off x="7137806" y="3983126"/>
            <a:ext cx="263347" cy="263347"/>
          </a:xfrm>
          <a:prstGeom prst="rect">
            <a:avLst/>
          </a:prstGeom>
        </p:spPr>
      </p:pic>
      <p:sp>
        <p:nvSpPr>
          <p:cNvPr id="13" name="lc-c2-h"/>
          <p:cNvSpPr txBox="1"/>
          <p:nvPr/>
        </p:nvSpPr>
        <p:spPr>
          <a:xfrm>
            <a:off x="7726680" y="3840480"/>
            <a:ext cx="3749040" cy="365760"/>
          </a:xfrm>
          <a:prstGeom prst="rect">
            <a:avLst/>
          </a:prstGeom>
          <a:noFill/>
          <a:ln/>
        </p:spPr>
        <p:txBody>
          <a:bodyPr wrap="square" lIns="0" tIns="0" rIns="0" bIns="0" rtlCol="0" anchor="t"/>
          <a:lstStyle/>
          <a:p>
            <a:pPr marL="0" indent="0">
              <a:buNone/>
            </a:pPr>
            <a:r>
              <a:rPr lang="en-US" sz="1700" b="1" dirty="0">
                <a:solidFill>
                  <a:schemeClr val="tx2"/>
                </a:solidFill>
              </a:rPr>
              <a:t>Limitations</a:t>
            </a:r>
            <a:endParaRPr lang="en-US" sz="1700" dirty="0"/>
          </a:p>
        </p:txBody>
      </p:sp>
      <p:sp>
        <p:nvSpPr>
          <p:cNvPr id="14" name="lc-c2-l"/>
          <p:cNvSpPr txBox="1"/>
          <p:nvPr/>
        </p:nvSpPr>
        <p:spPr>
          <a:xfrm>
            <a:off x="7726680" y="4251960"/>
            <a:ext cx="3749040" cy="17830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Missing: MRT distance, condition, view, exact location.</a:t>
            </a:r>
            <a:endParaRPr lang="en-US" sz="1400" dirty="0"/>
          </a:p>
          <a:p>
            <a:pPr marL="342900" indent="-342900">
              <a:spcAft>
                <a:spcPts val="400"/>
              </a:spcAft>
              <a:buSzPct val="100000"/>
              <a:buChar char="•"/>
            </a:pPr>
            <a:r>
              <a:rPr lang="en-US" sz="1400" dirty="0">
                <a:solidFill>
                  <a:schemeClr val="tx1"/>
                </a:solidFill>
              </a:rPr>
              <a:t>SHAP shows what the model uses, not what causes prices.</a:t>
            </a:r>
            <a:endParaRPr lang="en-US" sz="1400" dirty="0"/>
          </a:p>
          <a:p>
            <a:pPr marL="342900" indent="-342900">
              <a:spcAft>
                <a:spcPts val="400"/>
              </a:spcAft>
              <a:buSzPct val="100000"/>
              <a:buChar char="•"/>
            </a:pPr>
            <a:r>
              <a:rPr lang="en-US" sz="1400" dirty="0">
                <a:solidFill>
                  <a:schemeClr val="tx1"/>
                </a:solidFill>
              </a:rPr>
              <a:t>Size features overlap, so they share credit.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Reflection: challenges and lessons learned</a:t>
            </a:r>
            <a:endParaRPr lang="en-US" sz="3200" dirty="0"/>
          </a:p>
        </p:txBody>
      </p:sp>
      <p:sp>
        <p:nvSpPr>
          <p:cNvPr id="3" name="rf0"/>
          <p:cNvSpPr/>
          <p:nvPr/>
        </p:nvSpPr>
        <p:spPr>
          <a:xfrm>
            <a:off x="548640" y="1371600"/>
            <a:ext cx="3566160" cy="2194560"/>
          </a:xfrm>
          <a:prstGeom prst="roundRect">
            <a:avLst>
              <a:gd name="adj" fmla="val 5000"/>
            </a:avLst>
          </a:prstGeom>
          <a:solidFill>
            <a:schemeClr val="bg2"/>
          </a:solidFill>
          <a:ln w="12700">
            <a:solidFill>
              <a:schemeClr val="bg2"/>
            </a:solidFill>
            <a:prstDash val="solid"/>
          </a:ln>
        </p:spPr>
        <p:txBody>
          <a:bodyPr/>
          <a:lstStyle/>
          <a:p>
            <a:endParaRPr lang="en-SG"/>
          </a:p>
        </p:txBody>
      </p:sp>
      <p:sp>
        <p:nvSpPr>
          <p:cNvPr id="4" name="rf0-l1"/>
          <p:cNvSpPr txBox="1"/>
          <p:nvPr/>
        </p:nvSpPr>
        <p:spPr>
          <a:xfrm>
            <a:off x="777240" y="1554480"/>
            <a:ext cx="3108960"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CHALLENGE</a:t>
            </a:r>
            <a:endParaRPr lang="en-US" sz="1100" dirty="0"/>
          </a:p>
        </p:txBody>
      </p:sp>
      <p:sp>
        <p:nvSpPr>
          <p:cNvPr id="5" name="rf0-c"/>
          <p:cNvSpPr txBox="1"/>
          <p:nvPr/>
        </p:nvSpPr>
        <p:spPr>
          <a:xfrm>
            <a:off x="777240" y="1810512"/>
            <a:ext cx="3108960" cy="640080"/>
          </a:xfrm>
          <a:prstGeom prst="rect">
            <a:avLst/>
          </a:prstGeom>
          <a:noFill/>
          <a:ln/>
        </p:spPr>
        <p:txBody>
          <a:bodyPr wrap="square" lIns="0" tIns="0" rIns="0" bIns="0" rtlCol="0" anchor="t"/>
          <a:lstStyle/>
          <a:p>
            <a:pPr marL="0" indent="0">
              <a:buNone/>
            </a:pPr>
            <a:r>
              <a:rPr lang="en-US" sz="1600" b="1" dirty="0">
                <a:solidFill>
                  <a:schemeClr val="tx2"/>
                </a:solidFill>
              </a:rPr>
              <a:t>Numbers hidden in text</a:t>
            </a:r>
            <a:endParaRPr lang="en-US" sz="1600" dirty="0"/>
          </a:p>
        </p:txBody>
      </p:sp>
      <p:sp>
        <p:nvSpPr>
          <p:cNvPr id="6" name="rf0-l2"/>
          <p:cNvSpPr txBox="1"/>
          <p:nvPr/>
        </p:nvSpPr>
        <p:spPr>
          <a:xfrm>
            <a:off x="777240" y="2514600"/>
            <a:ext cx="310896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LESSON</a:t>
            </a:r>
            <a:endParaRPr lang="en-US" sz="1100" dirty="0"/>
          </a:p>
        </p:txBody>
      </p:sp>
      <p:sp>
        <p:nvSpPr>
          <p:cNvPr id="7" name="rf0-le"/>
          <p:cNvSpPr txBox="1"/>
          <p:nvPr/>
        </p:nvSpPr>
        <p:spPr>
          <a:xfrm>
            <a:off x="777240" y="2770632"/>
            <a:ext cx="3108960" cy="731520"/>
          </a:xfrm>
          <a:prstGeom prst="rect">
            <a:avLst/>
          </a:prstGeom>
          <a:noFill/>
          <a:ln/>
        </p:spPr>
        <p:txBody>
          <a:bodyPr wrap="square" lIns="0" tIns="0" rIns="0" bIns="0" rtlCol="0" anchor="t"/>
          <a:lstStyle/>
          <a:p>
            <a:pPr marL="0" indent="0">
              <a:buNone/>
            </a:pPr>
            <a:r>
              <a:rPr lang="en-US" sz="1400" dirty="0">
                <a:solidFill>
                  <a:schemeClr val="tx1"/>
                </a:solidFill>
              </a:rPr>
              <a:t>Check every column's format, not just for blanks.</a:t>
            </a:r>
            <a:endParaRPr lang="en-US" sz="1400" dirty="0"/>
          </a:p>
        </p:txBody>
      </p:sp>
      <p:sp>
        <p:nvSpPr>
          <p:cNvPr id="8" name="rf1"/>
          <p:cNvSpPr/>
          <p:nvPr/>
        </p:nvSpPr>
        <p:spPr>
          <a:xfrm>
            <a:off x="4297680" y="1371600"/>
            <a:ext cx="3566160" cy="2194560"/>
          </a:xfrm>
          <a:prstGeom prst="roundRect">
            <a:avLst>
              <a:gd name="adj" fmla="val 5000"/>
            </a:avLst>
          </a:prstGeom>
          <a:solidFill>
            <a:schemeClr val="bg2"/>
          </a:solidFill>
          <a:ln w="12700">
            <a:solidFill>
              <a:schemeClr val="bg2"/>
            </a:solidFill>
            <a:prstDash val="solid"/>
          </a:ln>
        </p:spPr>
        <p:txBody>
          <a:bodyPr/>
          <a:lstStyle/>
          <a:p>
            <a:endParaRPr lang="en-SG"/>
          </a:p>
        </p:txBody>
      </p:sp>
      <p:sp>
        <p:nvSpPr>
          <p:cNvPr id="9" name="rf1-l1"/>
          <p:cNvSpPr txBox="1"/>
          <p:nvPr/>
        </p:nvSpPr>
        <p:spPr>
          <a:xfrm>
            <a:off x="4526280" y="1554480"/>
            <a:ext cx="3108960"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CHALLENGE</a:t>
            </a:r>
            <a:endParaRPr lang="en-US" sz="1100" dirty="0"/>
          </a:p>
        </p:txBody>
      </p:sp>
      <p:sp>
        <p:nvSpPr>
          <p:cNvPr id="10" name="rf1-c"/>
          <p:cNvSpPr txBox="1"/>
          <p:nvPr/>
        </p:nvSpPr>
        <p:spPr>
          <a:xfrm>
            <a:off x="4526280" y="1810512"/>
            <a:ext cx="3108960" cy="640080"/>
          </a:xfrm>
          <a:prstGeom prst="rect">
            <a:avLst/>
          </a:prstGeom>
          <a:noFill/>
          <a:ln/>
        </p:spPr>
        <p:txBody>
          <a:bodyPr wrap="square" lIns="0" tIns="0" rIns="0" bIns="0" rtlCol="0" anchor="t"/>
          <a:lstStyle/>
          <a:p>
            <a:pPr marL="0" indent="0">
              <a:buNone/>
            </a:pPr>
            <a:r>
              <a:rPr lang="en-US" sz="1600" b="1" dirty="0">
                <a:solidFill>
                  <a:schemeClr val="tx2"/>
                </a:solidFill>
              </a:rPr>
              <a:t>Three columns said the same thing</a:t>
            </a:r>
            <a:endParaRPr lang="en-US" sz="1600" dirty="0"/>
          </a:p>
        </p:txBody>
      </p:sp>
      <p:sp>
        <p:nvSpPr>
          <p:cNvPr id="11" name="rf1-l2"/>
          <p:cNvSpPr txBox="1"/>
          <p:nvPr/>
        </p:nvSpPr>
        <p:spPr>
          <a:xfrm>
            <a:off x="4526280" y="2514600"/>
            <a:ext cx="310896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LESSON</a:t>
            </a:r>
            <a:endParaRPr lang="en-US" sz="1100" dirty="0"/>
          </a:p>
        </p:txBody>
      </p:sp>
      <p:sp>
        <p:nvSpPr>
          <p:cNvPr id="12" name="rf1-le"/>
          <p:cNvSpPr txBox="1"/>
          <p:nvPr/>
        </p:nvSpPr>
        <p:spPr>
          <a:xfrm>
            <a:off x="4526280" y="2770632"/>
            <a:ext cx="3108960" cy="731520"/>
          </a:xfrm>
          <a:prstGeom prst="rect">
            <a:avLst/>
          </a:prstGeom>
          <a:noFill/>
          <a:ln/>
        </p:spPr>
        <p:txBody>
          <a:bodyPr wrap="square" lIns="0" tIns="0" rIns="0" bIns="0" rtlCol="0" anchor="t"/>
          <a:lstStyle/>
          <a:p>
            <a:pPr marL="0" indent="0">
              <a:buNone/>
            </a:pPr>
            <a:r>
              <a:rPr lang="en-US" sz="1400" dirty="0">
                <a:solidFill>
                  <a:schemeClr val="tx1"/>
                </a:solidFill>
              </a:rPr>
              <a:t>Use correlations and PCA to find and remove copies.</a:t>
            </a:r>
            <a:endParaRPr lang="en-US" sz="1400" dirty="0"/>
          </a:p>
        </p:txBody>
      </p:sp>
      <p:sp>
        <p:nvSpPr>
          <p:cNvPr id="13" name="rf2"/>
          <p:cNvSpPr/>
          <p:nvPr/>
        </p:nvSpPr>
        <p:spPr>
          <a:xfrm>
            <a:off x="8046720" y="1371600"/>
            <a:ext cx="3566160" cy="2194560"/>
          </a:xfrm>
          <a:prstGeom prst="roundRect">
            <a:avLst>
              <a:gd name="adj" fmla="val 5000"/>
            </a:avLst>
          </a:prstGeom>
          <a:solidFill>
            <a:schemeClr val="bg2"/>
          </a:solidFill>
          <a:ln w="12700">
            <a:solidFill>
              <a:schemeClr val="bg2"/>
            </a:solidFill>
            <a:prstDash val="solid"/>
          </a:ln>
        </p:spPr>
        <p:txBody>
          <a:bodyPr/>
          <a:lstStyle/>
          <a:p>
            <a:endParaRPr lang="en-SG"/>
          </a:p>
        </p:txBody>
      </p:sp>
      <p:sp>
        <p:nvSpPr>
          <p:cNvPr id="14" name="rf2-l1"/>
          <p:cNvSpPr txBox="1"/>
          <p:nvPr/>
        </p:nvSpPr>
        <p:spPr>
          <a:xfrm>
            <a:off x="8275320" y="1554480"/>
            <a:ext cx="3108960"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CHALLENGE</a:t>
            </a:r>
            <a:endParaRPr lang="en-US" sz="1100" dirty="0"/>
          </a:p>
        </p:txBody>
      </p:sp>
      <p:sp>
        <p:nvSpPr>
          <p:cNvPr id="15" name="rf2-c"/>
          <p:cNvSpPr txBox="1"/>
          <p:nvPr/>
        </p:nvSpPr>
        <p:spPr>
          <a:xfrm>
            <a:off x="8275320" y="1810512"/>
            <a:ext cx="3108960" cy="640080"/>
          </a:xfrm>
          <a:prstGeom prst="rect">
            <a:avLst/>
          </a:prstGeom>
          <a:noFill/>
          <a:ln/>
        </p:spPr>
        <p:txBody>
          <a:bodyPr wrap="square" lIns="0" tIns="0" rIns="0" bIns="0" rtlCol="0" anchor="t"/>
          <a:lstStyle/>
          <a:p>
            <a:pPr marL="0" indent="0">
              <a:buNone/>
            </a:pPr>
            <a:r>
              <a:rPr lang="en-US" sz="1600" b="1" dirty="0">
                <a:solidFill>
                  <a:schemeClr val="tx2"/>
                </a:solidFill>
              </a:rPr>
              <a:t>My rare-category rule merged expensive towns</a:t>
            </a:r>
            <a:endParaRPr lang="en-US" sz="1600" dirty="0"/>
          </a:p>
        </p:txBody>
      </p:sp>
      <p:sp>
        <p:nvSpPr>
          <p:cNvPr id="16" name="rf2-l2"/>
          <p:cNvSpPr txBox="1"/>
          <p:nvPr/>
        </p:nvSpPr>
        <p:spPr>
          <a:xfrm>
            <a:off x="8275320" y="2514600"/>
            <a:ext cx="310896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LESSON</a:t>
            </a:r>
            <a:endParaRPr lang="en-US" sz="1100" dirty="0"/>
          </a:p>
        </p:txBody>
      </p:sp>
      <p:sp>
        <p:nvSpPr>
          <p:cNvPr id="17" name="rf2-le"/>
          <p:cNvSpPr txBox="1"/>
          <p:nvPr/>
        </p:nvSpPr>
        <p:spPr>
          <a:xfrm>
            <a:off x="8275320" y="2770632"/>
            <a:ext cx="3108960" cy="731520"/>
          </a:xfrm>
          <a:prstGeom prst="rect">
            <a:avLst/>
          </a:prstGeom>
          <a:noFill/>
          <a:ln/>
        </p:spPr>
        <p:txBody>
          <a:bodyPr wrap="square" lIns="0" tIns="0" rIns="0" bIns="0" rtlCol="0" anchor="t"/>
          <a:lstStyle/>
          <a:p>
            <a:pPr marL="0" indent="0">
              <a:buNone/>
            </a:pPr>
            <a:r>
              <a:rPr lang="en-US" sz="1400" dirty="0">
                <a:solidFill>
                  <a:schemeClr val="tx1"/>
                </a:solidFill>
              </a:rPr>
              <a:t>Check what each preprocessing step really does.</a:t>
            </a:r>
            <a:endParaRPr lang="en-US" sz="1400" dirty="0"/>
          </a:p>
        </p:txBody>
      </p:sp>
      <p:sp>
        <p:nvSpPr>
          <p:cNvPr id="18" name="rf3"/>
          <p:cNvSpPr/>
          <p:nvPr/>
        </p:nvSpPr>
        <p:spPr>
          <a:xfrm>
            <a:off x="548640" y="3794760"/>
            <a:ext cx="3566160" cy="2194560"/>
          </a:xfrm>
          <a:prstGeom prst="roundRect">
            <a:avLst>
              <a:gd name="adj" fmla="val 5000"/>
            </a:avLst>
          </a:prstGeom>
          <a:solidFill>
            <a:schemeClr val="bg2"/>
          </a:solidFill>
          <a:ln w="12700">
            <a:solidFill>
              <a:schemeClr val="bg2"/>
            </a:solidFill>
            <a:prstDash val="solid"/>
          </a:ln>
        </p:spPr>
        <p:txBody>
          <a:bodyPr/>
          <a:lstStyle/>
          <a:p>
            <a:endParaRPr lang="en-SG"/>
          </a:p>
        </p:txBody>
      </p:sp>
      <p:sp>
        <p:nvSpPr>
          <p:cNvPr id="19" name="rf3-l1"/>
          <p:cNvSpPr txBox="1"/>
          <p:nvPr/>
        </p:nvSpPr>
        <p:spPr>
          <a:xfrm>
            <a:off x="777240" y="3977640"/>
            <a:ext cx="3108960"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CHALLENGE</a:t>
            </a:r>
            <a:endParaRPr lang="en-US" sz="1100" dirty="0"/>
          </a:p>
        </p:txBody>
      </p:sp>
      <p:sp>
        <p:nvSpPr>
          <p:cNvPr id="20" name="rf3-c"/>
          <p:cNvSpPr txBox="1"/>
          <p:nvPr/>
        </p:nvSpPr>
        <p:spPr>
          <a:xfrm>
            <a:off x="777240" y="4233672"/>
            <a:ext cx="3108960" cy="640080"/>
          </a:xfrm>
          <a:prstGeom prst="rect">
            <a:avLst/>
          </a:prstGeom>
          <a:noFill/>
          <a:ln/>
        </p:spPr>
        <p:txBody>
          <a:bodyPr wrap="square" lIns="0" tIns="0" rIns="0" bIns="0" rtlCol="0" anchor="t"/>
          <a:lstStyle/>
          <a:p>
            <a:pPr marL="0" indent="0">
              <a:buNone/>
            </a:pPr>
            <a:r>
              <a:rPr lang="en-US" sz="1600" b="1" dirty="0">
                <a:solidFill>
                  <a:schemeClr val="tx2"/>
                </a:solidFill>
              </a:rPr>
              <a:t>AutoML ranked Random Forest last</a:t>
            </a:r>
            <a:endParaRPr lang="en-US" sz="1600" dirty="0"/>
          </a:p>
        </p:txBody>
      </p:sp>
      <p:sp>
        <p:nvSpPr>
          <p:cNvPr id="21" name="rf3-l2"/>
          <p:cNvSpPr txBox="1"/>
          <p:nvPr/>
        </p:nvSpPr>
        <p:spPr>
          <a:xfrm>
            <a:off x="777240" y="4937760"/>
            <a:ext cx="310896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LESSON</a:t>
            </a:r>
            <a:endParaRPr lang="en-US" sz="1100" dirty="0"/>
          </a:p>
        </p:txBody>
      </p:sp>
      <p:sp>
        <p:nvSpPr>
          <p:cNvPr id="22" name="rf3-le"/>
          <p:cNvSpPr txBox="1"/>
          <p:nvPr/>
        </p:nvSpPr>
        <p:spPr>
          <a:xfrm>
            <a:off x="777240" y="5193792"/>
            <a:ext cx="3108960" cy="731520"/>
          </a:xfrm>
          <a:prstGeom prst="rect">
            <a:avLst/>
          </a:prstGeom>
          <a:noFill/>
          <a:ln/>
        </p:spPr>
        <p:txBody>
          <a:bodyPr wrap="square" lIns="0" tIns="0" rIns="0" bIns="0" rtlCol="0" anchor="t"/>
          <a:lstStyle/>
          <a:p>
            <a:pPr marL="0" indent="0">
              <a:buNone/>
            </a:pPr>
            <a:r>
              <a:rPr lang="en-US" sz="1400" dirty="0">
                <a:solidFill>
                  <a:schemeClr val="tx1"/>
                </a:solidFill>
              </a:rPr>
              <a:t>Use AutoML as a guide; confirm with your own tests.</a:t>
            </a:r>
            <a:endParaRPr lang="en-US" sz="1400" dirty="0"/>
          </a:p>
        </p:txBody>
      </p:sp>
      <p:sp>
        <p:nvSpPr>
          <p:cNvPr id="23" name="rf4"/>
          <p:cNvSpPr/>
          <p:nvPr/>
        </p:nvSpPr>
        <p:spPr>
          <a:xfrm>
            <a:off x="4297680" y="3794760"/>
            <a:ext cx="3566160" cy="2194560"/>
          </a:xfrm>
          <a:prstGeom prst="roundRect">
            <a:avLst>
              <a:gd name="adj" fmla="val 5000"/>
            </a:avLst>
          </a:prstGeom>
          <a:solidFill>
            <a:schemeClr val="bg2"/>
          </a:solidFill>
          <a:ln w="12700">
            <a:solidFill>
              <a:schemeClr val="bg2"/>
            </a:solidFill>
            <a:prstDash val="solid"/>
          </a:ln>
        </p:spPr>
        <p:txBody>
          <a:bodyPr/>
          <a:lstStyle/>
          <a:p>
            <a:endParaRPr lang="en-SG"/>
          </a:p>
        </p:txBody>
      </p:sp>
      <p:sp>
        <p:nvSpPr>
          <p:cNvPr id="24" name="rf4-l1"/>
          <p:cNvSpPr txBox="1"/>
          <p:nvPr/>
        </p:nvSpPr>
        <p:spPr>
          <a:xfrm>
            <a:off x="4526280" y="3977640"/>
            <a:ext cx="3108960"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CHALLENGE</a:t>
            </a:r>
            <a:endParaRPr lang="en-US" sz="1100" dirty="0"/>
          </a:p>
        </p:txBody>
      </p:sp>
      <p:sp>
        <p:nvSpPr>
          <p:cNvPr id="25" name="rf4-c"/>
          <p:cNvSpPr txBox="1"/>
          <p:nvPr/>
        </p:nvSpPr>
        <p:spPr>
          <a:xfrm>
            <a:off x="4526280" y="4233672"/>
            <a:ext cx="3108960" cy="640080"/>
          </a:xfrm>
          <a:prstGeom prst="rect">
            <a:avLst/>
          </a:prstGeom>
          <a:noFill/>
          <a:ln/>
        </p:spPr>
        <p:txBody>
          <a:bodyPr wrap="square" lIns="0" tIns="0" rIns="0" bIns="0" rtlCol="0" anchor="t"/>
          <a:lstStyle/>
          <a:p>
            <a:pPr marL="0" indent="0">
              <a:buNone/>
            </a:pPr>
            <a:r>
              <a:rPr lang="en-US" sz="1600" b="1" dirty="0">
                <a:solidFill>
                  <a:schemeClr val="tx2"/>
                </a:solidFill>
              </a:rPr>
              <a:t>Runs were too slow for a demo</a:t>
            </a:r>
            <a:endParaRPr lang="en-US" sz="1600" dirty="0"/>
          </a:p>
        </p:txBody>
      </p:sp>
      <p:sp>
        <p:nvSpPr>
          <p:cNvPr id="26" name="rf4-l2"/>
          <p:cNvSpPr txBox="1"/>
          <p:nvPr/>
        </p:nvSpPr>
        <p:spPr>
          <a:xfrm>
            <a:off x="4526280" y="4937760"/>
            <a:ext cx="310896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LESSON</a:t>
            </a:r>
            <a:endParaRPr lang="en-US" sz="1100" dirty="0"/>
          </a:p>
        </p:txBody>
      </p:sp>
      <p:sp>
        <p:nvSpPr>
          <p:cNvPr id="27" name="rf4-le"/>
          <p:cNvSpPr txBox="1"/>
          <p:nvPr/>
        </p:nvSpPr>
        <p:spPr>
          <a:xfrm>
            <a:off x="4526280" y="5193792"/>
            <a:ext cx="3108960" cy="731520"/>
          </a:xfrm>
          <a:prstGeom prst="rect">
            <a:avLst/>
          </a:prstGeom>
          <a:noFill/>
          <a:ln/>
        </p:spPr>
        <p:txBody>
          <a:bodyPr wrap="square" lIns="0" tIns="0" rIns="0" bIns="0" rtlCol="0" anchor="t"/>
          <a:lstStyle/>
          <a:p>
            <a:pPr marL="0" indent="0">
              <a:buNone/>
            </a:pPr>
            <a:r>
              <a:rPr lang="en-US" sz="1400" dirty="0">
                <a:solidFill>
                  <a:schemeClr val="tx1"/>
                </a:solidFill>
              </a:rPr>
              <a:t>Fewer trials gave the same accuracy in 7 minutes.</a:t>
            </a:r>
            <a:endParaRPr lang="en-US" sz="1400" dirty="0"/>
          </a:p>
        </p:txBody>
      </p:sp>
      <p:sp>
        <p:nvSpPr>
          <p:cNvPr id="28" name="rf5"/>
          <p:cNvSpPr/>
          <p:nvPr/>
        </p:nvSpPr>
        <p:spPr>
          <a:xfrm>
            <a:off x="8046720" y="3794760"/>
            <a:ext cx="3566160" cy="2194560"/>
          </a:xfrm>
          <a:prstGeom prst="roundRect">
            <a:avLst>
              <a:gd name="adj" fmla="val 5000"/>
            </a:avLst>
          </a:prstGeom>
          <a:solidFill>
            <a:schemeClr val="bg2"/>
          </a:solidFill>
          <a:ln w="12700">
            <a:solidFill>
              <a:schemeClr val="bg2"/>
            </a:solidFill>
            <a:prstDash val="solid"/>
          </a:ln>
        </p:spPr>
        <p:txBody>
          <a:bodyPr/>
          <a:lstStyle/>
          <a:p>
            <a:endParaRPr lang="en-SG"/>
          </a:p>
        </p:txBody>
      </p:sp>
      <p:sp>
        <p:nvSpPr>
          <p:cNvPr id="29" name="rf5-l1"/>
          <p:cNvSpPr txBox="1"/>
          <p:nvPr/>
        </p:nvSpPr>
        <p:spPr>
          <a:xfrm>
            <a:off x="8275320" y="3977640"/>
            <a:ext cx="3108960"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CHALLENGE</a:t>
            </a:r>
            <a:endParaRPr lang="en-US" sz="1100" dirty="0"/>
          </a:p>
        </p:txBody>
      </p:sp>
      <p:sp>
        <p:nvSpPr>
          <p:cNvPr id="30" name="rf5-c"/>
          <p:cNvSpPr txBox="1"/>
          <p:nvPr/>
        </p:nvSpPr>
        <p:spPr>
          <a:xfrm>
            <a:off x="8275320" y="4233672"/>
            <a:ext cx="3108960" cy="640080"/>
          </a:xfrm>
          <a:prstGeom prst="rect">
            <a:avLst/>
          </a:prstGeom>
          <a:noFill/>
          <a:ln/>
        </p:spPr>
        <p:txBody>
          <a:bodyPr wrap="square" lIns="0" tIns="0" rIns="0" bIns="0" rtlCol="0" anchor="t"/>
          <a:lstStyle/>
          <a:p>
            <a:pPr marL="0" indent="0">
              <a:buNone/>
            </a:pPr>
            <a:r>
              <a:rPr lang="en-US" sz="1600" b="1" dirty="0">
                <a:solidFill>
                  <a:schemeClr val="tx2"/>
                </a:solidFill>
              </a:rPr>
              <a:t>A few flats are badly mispriced</a:t>
            </a:r>
            <a:endParaRPr lang="en-US" sz="1600" dirty="0"/>
          </a:p>
        </p:txBody>
      </p:sp>
      <p:sp>
        <p:nvSpPr>
          <p:cNvPr id="31" name="rf5-l2"/>
          <p:cNvSpPr txBox="1"/>
          <p:nvPr/>
        </p:nvSpPr>
        <p:spPr>
          <a:xfrm>
            <a:off x="8275320" y="4937760"/>
            <a:ext cx="3108960" cy="274320"/>
          </a:xfrm>
          <a:prstGeom prst="rect">
            <a:avLst/>
          </a:prstGeom>
          <a:noFill/>
          <a:ln/>
        </p:spPr>
        <p:txBody>
          <a:bodyPr wrap="square" lIns="0" tIns="0" rIns="0" bIns="0" rtlCol="0" anchor="t"/>
          <a:lstStyle/>
          <a:p>
            <a:pPr marL="0" indent="0">
              <a:buNone/>
            </a:pPr>
            <a:r>
              <a:rPr lang="en-US" sz="1100" b="1" kern="0" spc="100" dirty="0">
                <a:solidFill>
                  <a:schemeClr val="accent2"/>
                </a:solidFill>
              </a:rPr>
              <a:t>LESSON</a:t>
            </a:r>
            <a:endParaRPr lang="en-US" sz="1100" dirty="0"/>
          </a:p>
        </p:txBody>
      </p:sp>
      <p:sp>
        <p:nvSpPr>
          <p:cNvPr id="32" name="rf5-le"/>
          <p:cNvSpPr txBox="1"/>
          <p:nvPr/>
        </p:nvSpPr>
        <p:spPr>
          <a:xfrm>
            <a:off x="8275320" y="5193792"/>
            <a:ext cx="3108960" cy="731520"/>
          </a:xfrm>
          <a:prstGeom prst="rect">
            <a:avLst/>
          </a:prstGeom>
          <a:noFill/>
          <a:ln/>
        </p:spPr>
        <p:txBody>
          <a:bodyPr wrap="square" lIns="0" tIns="0" rIns="0" bIns="0" rtlCol="0" anchor="t"/>
          <a:lstStyle/>
          <a:p>
            <a:pPr marL="0" indent="0">
              <a:buNone/>
            </a:pPr>
            <a:r>
              <a:rPr lang="en-US" sz="1400" dirty="0">
                <a:solidFill>
                  <a:schemeClr val="tx1"/>
                </a:solidFill>
              </a:rPr>
              <a:t>The data's limits matter more than the model's.</a:t>
            </a:r>
            <a:endParaRPr lang="en-US" sz="14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548640"/>
            <a:ext cx="10698480" cy="1097280"/>
          </a:xfrm>
          <a:prstGeom prst="rect">
            <a:avLst/>
          </a:prstGeom>
          <a:noFill/>
          <a:ln/>
        </p:spPr>
        <p:txBody>
          <a:bodyPr wrap="square" lIns="0" tIns="0" rIns="0" bIns="0" rtlCol="0" anchor="ctr"/>
          <a:lstStyle/>
          <a:p>
            <a:pPr marL="0" indent="0" algn="l">
              <a:buNone/>
            </a:pPr>
            <a:r>
              <a:rPr lang="en-US" sz="3800" b="1" dirty="0">
                <a:solidFill>
                  <a:schemeClr val="bg1"/>
                </a:solidFill>
                <a:latin typeface="Cambria" pitchFamily="34" charset="0"/>
                <a:ea typeface="Cambria" pitchFamily="34" charset="-122"/>
                <a:cs typeface="Cambria" pitchFamily="34" charset="-120"/>
              </a:rPr>
              <a:t>Size, location and lease set the price</a:t>
            </a:r>
            <a:endParaRPr lang="en-US" sz="3800" dirty="0"/>
          </a:p>
        </p:txBody>
      </p:sp>
      <p:sp>
        <p:nvSpPr>
          <p:cNvPr id="3" name="cc0-circle"/>
          <p:cNvSpPr/>
          <p:nvPr/>
        </p:nvSpPr>
        <p:spPr>
          <a:xfrm>
            <a:off x="731520" y="2057400"/>
            <a:ext cx="777240" cy="777240"/>
          </a:xfrm>
          <a:prstGeom prst="ellipse">
            <a:avLst/>
          </a:prstGeom>
          <a:solidFill>
            <a:schemeClr val="accent1"/>
          </a:solidFill>
          <a:ln w="12700">
            <a:solidFill>
              <a:schemeClr val="accent1"/>
            </a:solidFill>
            <a:prstDash val="solid"/>
          </a:ln>
        </p:spPr>
        <p:txBody>
          <a:bodyPr/>
          <a:lstStyle/>
          <a:p>
            <a:endParaRPr lang="en-SG"/>
          </a:p>
        </p:txBody>
      </p:sp>
      <p:pic>
        <p:nvPicPr>
          <p:cNvPr id="4" name="cc0-icon" descr="preencoded.png"/>
          <p:cNvPicPr>
            <a:picLocks noChangeAspect="1"/>
          </p:cNvPicPr>
          <p:nvPr/>
        </p:nvPicPr>
        <p:blipFill>
          <a:blip r:embed="rId3"/>
          <a:stretch>
            <a:fillRect/>
          </a:stretch>
        </p:blipFill>
        <p:spPr>
          <a:xfrm>
            <a:off x="933602" y="2259482"/>
            <a:ext cx="373075" cy="373075"/>
          </a:xfrm>
          <a:prstGeom prst="rect">
            <a:avLst/>
          </a:prstGeom>
        </p:spPr>
      </p:pic>
      <p:sp>
        <p:nvSpPr>
          <p:cNvPr id="5" name="cc0-h"/>
          <p:cNvSpPr txBox="1"/>
          <p:nvPr/>
        </p:nvSpPr>
        <p:spPr>
          <a:xfrm>
            <a:off x="731520" y="3063240"/>
            <a:ext cx="3246120" cy="411480"/>
          </a:xfrm>
          <a:prstGeom prst="rect">
            <a:avLst/>
          </a:prstGeom>
          <a:noFill/>
          <a:ln/>
        </p:spPr>
        <p:txBody>
          <a:bodyPr wrap="square" lIns="0" tIns="0" rIns="0" bIns="0" rtlCol="0" anchor="t"/>
          <a:lstStyle/>
          <a:p>
            <a:pPr marL="0" indent="0">
              <a:buNone/>
            </a:pPr>
            <a:r>
              <a:rPr lang="en-US" sz="2000" b="1" dirty="0">
                <a:solidFill>
                  <a:schemeClr val="bg1"/>
                </a:solidFill>
              </a:rPr>
              <a:t>What drives price</a:t>
            </a:r>
            <a:endParaRPr lang="en-US" sz="2000" dirty="0"/>
          </a:p>
        </p:txBody>
      </p:sp>
      <p:sp>
        <p:nvSpPr>
          <p:cNvPr id="6" name="cc0-d"/>
          <p:cNvSpPr txBox="1"/>
          <p:nvPr/>
        </p:nvSpPr>
        <p:spPr>
          <a:xfrm>
            <a:off x="731520" y="3520440"/>
            <a:ext cx="3246120" cy="1188720"/>
          </a:xfrm>
          <a:prstGeom prst="rect">
            <a:avLst/>
          </a:prstGeom>
          <a:noFill/>
          <a:ln/>
        </p:spPr>
        <p:txBody>
          <a:bodyPr wrap="square" lIns="0" tIns="0" rIns="0" bIns="0" rtlCol="0" anchor="t"/>
          <a:lstStyle/>
          <a:p>
            <a:pPr marL="0" indent="0">
              <a:buNone/>
            </a:pPr>
            <a:r>
              <a:rPr lang="en-US" sz="1600" dirty="0">
                <a:solidFill>
                  <a:schemeClr val="accent5"/>
                </a:solidFill>
              </a:rPr>
              <a:t>+6% per 10 sqm, +10–20% in a mature estate, a premium above 85 years of lease.</a:t>
            </a:r>
            <a:endParaRPr lang="en-US" sz="1600" dirty="0"/>
          </a:p>
        </p:txBody>
      </p:sp>
      <p:sp>
        <p:nvSpPr>
          <p:cNvPr id="7" name="cc1-circle"/>
          <p:cNvSpPr/>
          <p:nvPr/>
        </p:nvSpPr>
        <p:spPr>
          <a:xfrm>
            <a:off x="4343400" y="2057400"/>
            <a:ext cx="777240" cy="777240"/>
          </a:xfrm>
          <a:prstGeom prst="ellipse">
            <a:avLst/>
          </a:prstGeom>
          <a:solidFill>
            <a:schemeClr val="accent1"/>
          </a:solidFill>
          <a:ln w="12700">
            <a:solidFill>
              <a:schemeClr val="accent1"/>
            </a:solidFill>
            <a:prstDash val="solid"/>
          </a:ln>
        </p:spPr>
        <p:txBody>
          <a:bodyPr/>
          <a:lstStyle/>
          <a:p>
            <a:endParaRPr lang="en-SG"/>
          </a:p>
        </p:txBody>
      </p:sp>
      <p:pic>
        <p:nvPicPr>
          <p:cNvPr id="8" name="cc1-icon" descr="preencoded.png"/>
          <p:cNvPicPr>
            <a:picLocks noChangeAspect="1"/>
          </p:cNvPicPr>
          <p:nvPr/>
        </p:nvPicPr>
        <p:blipFill>
          <a:blip r:embed="rId4"/>
          <a:stretch>
            <a:fillRect/>
          </a:stretch>
        </p:blipFill>
        <p:spPr>
          <a:xfrm>
            <a:off x="4545482" y="2259482"/>
            <a:ext cx="373075" cy="373075"/>
          </a:xfrm>
          <a:prstGeom prst="rect">
            <a:avLst/>
          </a:prstGeom>
        </p:spPr>
      </p:pic>
      <p:sp>
        <p:nvSpPr>
          <p:cNvPr id="9" name="cc1-h"/>
          <p:cNvSpPr txBox="1"/>
          <p:nvPr/>
        </p:nvSpPr>
        <p:spPr>
          <a:xfrm>
            <a:off x="4343400" y="3063240"/>
            <a:ext cx="3246120" cy="411480"/>
          </a:xfrm>
          <a:prstGeom prst="rect">
            <a:avLst/>
          </a:prstGeom>
          <a:noFill/>
          <a:ln/>
        </p:spPr>
        <p:txBody>
          <a:bodyPr wrap="square" lIns="0" tIns="0" rIns="0" bIns="0" rtlCol="0" anchor="t"/>
          <a:lstStyle/>
          <a:p>
            <a:pPr marL="0" indent="0">
              <a:buNone/>
            </a:pPr>
            <a:r>
              <a:rPr lang="en-US" sz="2000" b="1" dirty="0">
                <a:solidFill>
                  <a:schemeClr val="bg1"/>
                </a:solidFill>
              </a:rPr>
              <a:t>How well we predict</a:t>
            </a:r>
            <a:endParaRPr lang="en-US" sz="2000" dirty="0"/>
          </a:p>
        </p:txBody>
      </p:sp>
      <p:sp>
        <p:nvSpPr>
          <p:cNvPr id="10" name="cc1-d"/>
          <p:cNvSpPr txBox="1"/>
          <p:nvPr/>
        </p:nvSpPr>
        <p:spPr>
          <a:xfrm>
            <a:off x="4343400" y="3520440"/>
            <a:ext cx="3246120" cy="1188720"/>
          </a:xfrm>
          <a:prstGeom prst="rect">
            <a:avLst/>
          </a:prstGeom>
          <a:noFill/>
          <a:ln/>
        </p:spPr>
        <p:txBody>
          <a:bodyPr wrap="square" lIns="0" tIns="0" rIns="0" bIns="0" rtlCol="0" anchor="t"/>
          <a:lstStyle/>
          <a:p>
            <a:pPr marL="0" indent="0">
              <a:buNone/>
            </a:pPr>
            <a:r>
              <a:rPr lang="en-US" sz="1600" dirty="0">
                <a:solidFill>
                  <a:schemeClr val="accent5"/>
                </a:solidFill>
              </a:rPr>
              <a:t>Tuned LightGBM: 4.2% average error, R² 0.963 on unseen flats.</a:t>
            </a:r>
            <a:endParaRPr lang="en-US" sz="1600" dirty="0"/>
          </a:p>
        </p:txBody>
      </p:sp>
      <p:sp>
        <p:nvSpPr>
          <p:cNvPr id="11" name="cc2-circle"/>
          <p:cNvSpPr/>
          <p:nvPr/>
        </p:nvSpPr>
        <p:spPr>
          <a:xfrm>
            <a:off x="7955280" y="2057400"/>
            <a:ext cx="777240" cy="777240"/>
          </a:xfrm>
          <a:prstGeom prst="ellipse">
            <a:avLst/>
          </a:prstGeom>
          <a:solidFill>
            <a:schemeClr val="accent1"/>
          </a:solidFill>
          <a:ln w="12700">
            <a:solidFill>
              <a:schemeClr val="accent1"/>
            </a:solidFill>
            <a:prstDash val="solid"/>
          </a:ln>
        </p:spPr>
        <p:txBody>
          <a:bodyPr/>
          <a:lstStyle/>
          <a:p>
            <a:endParaRPr lang="en-SG"/>
          </a:p>
        </p:txBody>
      </p:sp>
      <p:pic>
        <p:nvPicPr>
          <p:cNvPr id="12" name="cc2-icon" descr="preencoded.png"/>
          <p:cNvPicPr>
            <a:picLocks noChangeAspect="1"/>
          </p:cNvPicPr>
          <p:nvPr/>
        </p:nvPicPr>
        <p:blipFill>
          <a:blip r:embed="rId5"/>
          <a:stretch>
            <a:fillRect/>
          </a:stretch>
        </p:blipFill>
        <p:spPr>
          <a:xfrm>
            <a:off x="8157362" y="2259482"/>
            <a:ext cx="373075" cy="373075"/>
          </a:xfrm>
          <a:prstGeom prst="rect">
            <a:avLst/>
          </a:prstGeom>
        </p:spPr>
      </p:pic>
      <p:sp>
        <p:nvSpPr>
          <p:cNvPr id="13" name="cc2-h"/>
          <p:cNvSpPr txBox="1"/>
          <p:nvPr/>
        </p:nvSpPr>
        <p:spPr>
          <a:xfrm>
            <a:off x="7955280" y="3063240"/>
            <a:ext cx="3246120" cy="411480"/>
          </a:xfrm>
          <a:prstGeom prst="rect">
            <a:avLst/>
          </a:prstGeom>
          <a:noFill/>
          <a:ln/>
        </p:spPr>
        <p:txBody>
          <a:bodyPr wrap="square" lIns="0" tIns="0" rIns="0" bIns="0" rtlCol="0" anchor="t"/>
          <a:lstStyle/>
          <a:p>
            <a:pPr marL="0" indent="0">
              <a:buNone/>
            </a:pPr>
            <a:r>
              <a:rPr lang="en-US" sz="2000" b="1" dirty="0">
                <a:solidFill>
                  <a:schemeClr val="bg1"/>
                </a:solidFill>
              </a:rPr>
              <a:t>Next steps</a:t>
            </a:r>
            <a:endParaRPr lang="en-US" sz="2000" dirty="0"/>
          </a:p>
        </p:txBody>
      </p:sp>
      <p:sp>
        <p:nvSpPr>
          <p:cNvPr id="14" name="cc2-d"/>
          <p:cNvSpPr txBox="1"/>
          <p:nvPr/>
        </p:nvSpPr>
        <p:spPr>
          <a:xfrm>
            <a:off x="7955280" y="3520440"/>
            <a:ext cx="3246120" cy="1188720"/>
          </a:xfrm>
          <a:prstGeom prst="rect">
            <a:avLst/>
          </a:prstGeom>
          <a:noFill/>
          <a:ln/>
        </p:spPr>
        <p:txBody>
          <a:bodyPr wrap="square" lIns="0" tIns="0" rIns="0" bIns="0" rtlCol="0" anchor="t"/>
          <a:lstStyle/>
          <a:p>
            <a:pPr marL="0" indent="0">
              <a:buNone/>
            </a:pPr>
            <a:r>
              <a:rPr lang="en-US" sz="1600" dirty="0">
                <a:solidFill>
                  <a:schemeClr val="accent5"/>
                </a:solidFill>
              </a:rPr>
              <a:t>Add MRT distance, test on the latest months, add 2020–2024 to learn trends.</a:t>
            </a:r>
            <a:endParaRPr lang="en-US" sz="1600" dirty="0"/>
          </a:p>
        </p:txBody>
      </p:sp>
      <p:sp>
        <p:nvSpPr>
          <p:cNvPr id="15" name="cc-t"/>
          <p:cNvSpPr txBox="1"/>
          <p:nvPr/>
        </p:nvSpPr>
        <p:spPr>
          <a:xfrm>
            <a:off x="731520" y="5257800"/>
            <a:ext cx="7315200" cy="548640"/>
          </a:xfrm>
          <a:prstGeom prst="rect">
            <a:avLst/>
          </a:prstGeom>
          <a:noFill/>
          <a:ln/>
        </p:spPr>
        <p:txBody>
          <a:bodyPr wrap="square" lIns="0" tIns="0" rIns="0" bIns="0" rtlCol="0" anchor="t"/>
          <a:lstStyle/>
          <a:p>
            <a:pPr marL="0" indent="0">
              <a:buNone/>
            </a:pPr>
            <a:r>
              <a:rPr lang="en-US" sz="2600" b="1" dirty="0">
                <a:solidFill>
                  <a:schemeClr val="bg1"/>
                </a:solidFill>
                <a:latin typeface="Cambria" pitchFamily="34" charset="0"/>
                <a:ea typeface="Cambria" pitchFamily="34" charset="-122"/>
                <a:cs typeface="Cambria" pitchFamily="34" charset="-120"/>
              </a:rPr>
              <a:t>Thank you. Questions?</a:t>
            </a:r>
            <a:endParaRPr lang="en-US" sz="2600" dirty="0"/>
          </a:p>
        </p:txBody>
      </p:sp>
      <p:sp>
        <p:nvSpPr>
          <p:cNvPr id="16" name="cc-r"/>
          <p:cNvSpPr txBox="1"/>
          <p:nvPr/>
        </p:nvSpPr>
        <p:spPr>
          <a:xfrm>
            <a:off x="731520" y="5852160"/>
            <a:ext cx="10058400" cy="365760"/>
          </a:xfrm>
          <a:prstGeom prst="rect">
            <a:avLst/>
          </a:prstGeom>
          <a:noFill/>
          <a:ln/>
        </p:spPr>
        <p:txBody>
          <a:bodyPr wrap="square" lIns="0" tIns="0" rIns="0" bIns="0" rtlCol="0" anchor="t"/>
          <a:lstStyle/>
          <a:p>
            <a:pPr marL="0" indent="0">
              <a:buNone/>
            </a:pPr>
            <a:r>
              <a:rPr lang="en-US" sz="1400" dirty="0">
                <a:solidFill>
                  <a:schemeClr val="accent5"/>
                </a:solidFill>
              </a:rPr>
              <a:t>Notebook, data and code: see the GitHub repository in the submission</a:t>
            </a:r>
            <a:endParaRPr lang="en-US" sz="1400" dirty="0"/>
          </a:p>
        </p:txBody>
      </p:sp>
    </p:spTree>
  </p:cSld>
  <p:clrMapOvr>
    <a:masterClrMapping/>
  </p:clrMapOvr>
</p:sld>
</file>

<file path=ppt/theme/theme1.xml><?xml version="1.0" encoding="utf-8"?>
<a:theme xmlns:a="http://schemas.openxmlformats.org/drawingml/2006/main" name="HDB Resale">
  <a:themeElements>
    <a:clrScheme name="HDB Resale">
      <a:dk1>
        <a:srgbClr val="22252B"/>
      </a:dk1>
      <a:lt1>
        <a:srgbClr val="FFFFFF"/>
      </a:lt1>
      <a:dk2>
        <a:srgbClr val="14324A"/>
      </a:dk2>
      <a:lt2>
        <a:srgbClr val="EEF3F6"/>
      </a:lt2>
      <a:accent1>
        <a:srgbClr val="E4572E"/>
      </a:accent1>
      <a:accent2>
        <a:srgbClr val="2A78D6"/>
      </a:accent2>
      <a:accent3>
        <a:srgbClr val="5F6673"/>
      </a:accent3>
      <a:accent4>
        <a:srgbClr val="1BAF7A"/>
      </a:accent4>
      <a:accent5>
        <a:srgbClr val="C8D8E4"/>
      </a:accent5>
      <a:accent6>
        <a:srgbClr val="6250D6"/>
      </a:accent6>
      <a:hlink>
        <a:srgbClr val="2A78D6"/>
      </a:hlink>
      <a:folHlink>
        <a:srgbClr val="6250D6"/>
      </a:folHlink>
    </a:clrScheme>
    <a:fontScheme name="HDB Resa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3084</Words>
  <Application>Microsoft Office PowerPoint</Application>
  <PresentationFormat>Widescreen</PresentationFormat>
  <Paragraphs>264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HDB Resale</vt:lpstr>
      <vt:lpstr>What Is an HDB Flat Really Worth?</vt:lpstr>
      <vt:lpstr>The problem: estimate a fair resale price</vt:lpstr>
      <vt:lpstr>Workflow: eight steps, test set used once</vt:lpstr>
      <vt:lpstr>Data preparation: numbers hidden in text</vt:lpstr>
      <vt:lpstr>Size is the biggest driver of price</vt:lpstr>
      <vt:lpstr>Location, floor and lease also matter</vt:lpstr>
      <vt:lpstr>PCA: seven numbers, only four ideas</vt:lpstr>
      <vt:lpstr>Tree models beat linear regression clearly</vt:lpstr>
      <vt:lpstr>AutoML (FLAML): LightGBM comes out on top</vt:lpstr>
      <vt:lpstr>Optuna tuning cut the error by 15.8%</vt:lpstr>
      <vt:lpstr>Final test: about 4% off on unseen flats</vt:lpstr>
      <vt:lpstr>SHAP: size, location and lease set the price</vt:lpstr>
      <vt:lpstr>One flat at a time, and what the data cannot see</vt:lpstr>
      <vt:lpstr>Reflection: challenges and lessons learned</vt:lpstr>
      <vt:lpstr>Size, location and lease set the price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HDB Resale Flat Prices</dc:title>
  <dc:subject>PptxGenJS Presentation</dc:subject>
  <dc:creator>Rio</dc:creator>
  <cp:lastModifiedBy>Thet Htut Zaw</cp:lastModifiedBy>
  <cp:revision>2</cp:revision>
  <dcterms:created xsi:type="dcterms:W3CDTF">2026-10-22T12:29:22Z</dcterms:created>
  <dcterms:modified xsi:type="dcterms:W3CDTF">2026-10-22T12:43:20Z</dcterms:modified>
</cp:coreProperties>
</file>